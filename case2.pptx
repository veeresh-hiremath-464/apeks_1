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24736F5-768C-4551-AF4A-AF0DD1281BB5}">
          <p14:sldIdLst>
            <p14:sldId id="256"/>
            <p14:sldId id="257"/>
            <p14:sldId id="258"/>
            <p14:sldId id="259"/>
            <p14:sldId id="260"/>
            <p14:sldId id="261"/>
            <p14:sldId id="262"/>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33055-FEFA-EE4D-39D5-068E494BAF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2DDEB2-6C36-E260-F5A0-277D177AE5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1E1E0D-7A87-F98F-6A34-902745E0FE50}"/>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5" name="Footer Placeholder 4">
            <a:extLst>
              <a:ext uri="{FF2B5EF4-FFF2-40B4-BE49-F238E27FC236}">
                <a16:creationId xmlns:a16="http://schemas.microsoft.com/office/drawing/2014/main" id="{FEBF4FBE-969A-A311-342A-A7D2F16FC5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B43F8-9245-E3B9-5C8A-199C18CAE304}"/>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2812163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9CED8-B48E-9652-227C-E5B60ACD90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D6B1DF-CD5C-94FC-3202-8990CAD0CD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256587-0A65-DE8C-9204-70FAC04CAB30}"/>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5" name="Footer Placeholder 4">
            <a:extLst>
              <a:ext uri="{FF2B5EF4-FFF2-40B4-BE49-F238E27FC236}">
                <a16:creationId xmlns:a16="http://schemas.microsoft.com/office/drawing/2014/main" id="{715EEEE3-F23D-4004-382A-F0C50E796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D4D5C9-6643-B6A4-7E0B-70CAB46550DE}"/>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1912351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476A-467D-1476-9323-6226900CC2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7E025D-9C61-AB6F-16BD-DCD7B8C059E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383149-F488-6686-90DC-E6EAA53152DE}"/>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5" name="Footer Placeholder 4">
            <a:extLst>
              <a:ext uri="{FF2B5EF4-FFF2-40B4-BE49-F238E27FC236}">
                <a16:creationId xmlns:a16="http://schemas.microsoft.com/office/drawing/2014/main" id="{D0535F28-FBCF-C42B-5A2D-2F9AB7329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F8DFA0-6218-76E5-CED5-247DE6B9CE84}"/>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65227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C2CB7-B46D-DA04-3897-69EF3E7980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62EDD9-7EC7-A1A2-5F87-FCAEE45840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CCD30A-2A44-70F8-3FF4-A4B38C9695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6C93D0-4985-C8B2-FB9F-9973512C18C7}"/>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6" name="Footer Placeholder 5">
            <a:extLst>
              <a:ext uri="{FF2B5EF4-FFF2-40B4-BE49-F238E27FC236}">
                <a16:creationId xmlns:a16="http://schemas.microsoft.com/office/drawing/2014/main" id="{BA2659AD-515A-D036-DEE2-1DD83A3C84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9014E5-68A0-7BA6-2912-72CFFBE7AA5B}"/>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2795465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9283D-8389-C4F2-6F0A-A15FB1980E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43C2B2-6B6B-2BBA-A1E5-AFCC670C2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DBD8A6-15AD-4D93-8D8E-91A6A22088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E9BA84-B0E2-13B3-FD2C-5FC910B9CC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19EC4F-C8D8-6DBB-8517-996A834A1B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B4F1AB-C349-3EF6-914F-B2478AA3E2A9}"/>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8" name="Footer Placeholder 7">
            <a:extLst>
              <a:ext uri="{FF2B5EF4-FFF2-40B4-BE49-F238E27FC236}">
                <a16:creationId xmlns:a16="http://schemas.microsoft.com/office/drawing/2014/main" id="{56FBA8BA-4E82-6579-E164-D003474C47B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CF0AFD-A409-5118-5C83-0D9F9E614F56}"/>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2425652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F9EE3-FC49-5440-CC7E-22006CC575A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D6F3AA-6822-8D6C-8674-206BB44EB7D3}"/>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4" name="Footer Placeholder 3">
            <a:extLst>
              <a:ext uri="{FF2B5EF4-FFF2-40B4-BE49-F238E27FC236}">
                <a16:creationId xmlns:a16="http://schemas.microsoft.com/office/drawing/2014/main" id="{F3FBFEC1-DB79-37EA-F3FC-FE74605604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4CAA8F-34F2-ACF1-51BD-02B0AB15F0EF}"/>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3360443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0DF595-7184-D4FE-3105-ECA03E327156}"/>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3" name="Footer Placeholder 2">
            <a:extLst>
              <a:ext uri="{FF2B5EF4-FFF2-40B4-BE49-F238E27FC236}">
                <a16:creationId xmlns:a16="http://schemas.microsoft.com/office/drawing/2014/main" id="{FCFA008F-9C06-08F7-6EBE-7A197C20FF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0283F4F-0267-B833-06B1-A93A395079CB}"/>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4124996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A40D6-29AF-F655-5008-4CD75BDDEF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65EA47-134E-CC60-9DB6-57C97F2871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68DA91-D52F-61AE-FA9A-CE203DE714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DFDED2-6DD9-0954-706D-E48485B3CBA9}"/>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6" name="Footer Placeholder 5">
            <a:extLst>
              <a:ext uri="{FF2B5EF4-FFF2-40B4-BE49-F238E27FC236}">
                <a16:creationId xmlns:a16="http://schemas.microsoft.com/office/drawing/2014/main" id="{59E36666-5F7A-DC17-ED2B-63A853A6EC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AC3A92-0B23-6904-026C-23FB13E2492C}"/>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984582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080FE-90EE-7653-608F-AA2C50F6E3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417396-D919-0137-3CED-A606FC136F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409E15-185F-FBCE-036D-B135909E4A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9BB77E-5674-2006-329D-A79E0DC9E34C}"/>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6" name="Footer Placeholder 5">
            <a:extLst>
              <a:ext uri="{FF2B5EF4-FFF2-40B4-BE49-F238E27FC236}">
                <a16:creationId xmlns:a16="http://schemas.microsoft.com/office/drawing/2014/main" id="{A80C2BEB-00DB-081A-EF03-3331F6843D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05F85F-873A-499D-10D7-6E984200B8ED}"/>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4290214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14163-D65B-66DF-B087-B1AB4340AC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BFDDB0B-F791-751A-F90B-65104DE676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3796C8-852F-6B2F-3FF3-15786349D129}"/>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5" name="Footer Placeholder 4">
            <a:extLst>
              <a:ext uri="{FF2B5EF4-FFF2-40B4-BE49-F238E27FC236}">
                <a16:creationId xmlns:a16="http://schemas.microsoft.com/office/drawing/2014/main" id="{3BB295AE-1126-E2CF-C428-D8910BAD2D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3A54FE-6DEB-36A8-79AF-F2C9326789DF}"/>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2930168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C7883D-7C44-963D-B311-A62AE3B261B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43A6E5B-DEA1-3050-EF81-2E87221A49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23EC6E-588A-B61D-9205-4310FB60ABC4}"/>
              </a:ext>
            </a:extLst>
          </p:cNvPr>
          <p:cNvSpPr>
            <a:spLocks noGrp="1"/>
          </p:cNvSpPr>
          <p:nvPr>
            <p:ph type="dt" sz="half" idx="10"/>
          </p:nvPr>
        </p:nvSpPr>
        <p:spPr/>
        <p:txBody>
          <a:bodyPr/>
          <a:lstStyle/>
          <a:p>
            <a:fld id="{884507D2-BC31-46FD-AEB5-592312F36694}" type="datetimeFigureOut">
              <a:rPr lang="en-US" smtClean="0"/>
              <a:t>9/30/2026</a:t>
            </a:fld>
            <a:endParaRPr lang="en-US"/>
          </a:p>
        </p:txBody>
      </p:sp>
      <p:sp>
        <p:nvSpPr>
          <p:cNvPr id="5" name="Footer Placeholder 4">
            <a:extLst>
              <a:ext uri="{FF2B5EF4-FFF2-40B4-BE49-F238E27FC236}">
                <a16:creationId xmlns:a16="http://schemas.microsoft.com/office/drawing/2014/main" id="{06320DE3-F67D-3F56-007C-023E4EF2A2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AA4E42-5A86-E39F-5F5E-1942DB792475}"/>
              </a:ext>
            </a:extLst>
          </p:cNvPr>
          <p:cNvSpPr>
            <a:spLocks noGrp="1"/>
          </p:cNvSpPr>
          <p:nvPr>
            <p:ph type="sldNum" sz="quarter" idx="12"/>
          </p:nvPr>
        </p:nvSpPr>
        <p:spPr/>
        <p:txBody>
          <a:bodyPr/>
          <a:lstStyle/>
          <a:p>
            <a:fld id="{5B460971-9075-4DF1-ACE5-FECAF67556ED}" type="slidenum">
              <a:rPr lang="en-US" smtClean="0"/>
              <a:t>‹#›</a:t>
            </a:fld>
            <a:endParaRPr lang="en-US"/>
          </a:p>
        </p:txBody>
      </p:sp>
    </p:spTree>
    <p:extLst>
      <p:ext uri="{BB962C8B-B14F-4D97-AF65-F5344CB8AC3E}">
        <p14:creationId xmlns:p14="http://schemas.microsoft.com/office/powerpoint/2010/main" val="2685564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7175B1-15BA-694B-907E-192F6ADA2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F1D161-D492-CDA2-E985-B8B4DAF5F1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D3C146-3DFA-D92E-3F87-A1D226489D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4507D2-BC31-46FD-AEB5-592312F36694}" type="datetimeFigureOut">
              <a:rPr lang="en-US" smtClean="0"/>
              <a:t>9/30/2026</a:t>
            </a:fld>
            <a:endParaRPr lang="en-US"/>
          </a:p>
        </p:txBody>
      </p:sp>
      <p:sp>
        <p:nvSpPr>
          <p:cNvPr id="5" name="Footer Placeholder 4">
            <a:extLst>
              <a:ext uri="{FF2B5EF4-FFF2-40B4-BE49-F238E27FC236}">
                <a16:creationId xmlns:a16="http://schemas.microsoft.com/office/drawing/2014/main" id="{36600AF8-DF04-20EE-539C-D4A8371CD2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8FE71B0-D6AF-C971-76F1-E016763CD5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460971-9075-4DF1-ACE5-FECAF67556ED}" type="slidenum">
              <a:rPr lang="en-US" smtClean="0"/>
              <a:t>‹#›</a:t>
            </a:fld>
            <a:endParaRPr lang="en-US"/>
          </a:p>
        </p:txBody>
      </p:sp>
    </p:spTree>
    <p:extLst>
      <p:ext uri="{BB962C8B-B14F-4D97-AF65-F5344CB8AC3E}">
        <p14:creationId xmlns:p14="http://schemas.microsoft.com/office/powerpoint/2010/main" val="3710602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37BCF5F-FFDD-8A58-123C-1E351039ACDC}"/>
              </a:ext>
            </a:extLst>
          </p:cNvPr>
          <p:cNvSpPr txBox="1"/>
          <p:nvPr/>
        </p:nvSpPr>
        <p:spPr>
          <a:xfrm>
            <a:off x="2919222" y="1200311"/>
            <a:ext cx="6094476" cy="1384995"/>
          </a:xfrm>
          <a:prstGeom prst="rect">
            <a:avLst/>
          </a:prstGeom>
          <a:noFill/>
        </p:spPr>
        <p:txBody>
          <a:bodyPr wrap="square">
            <a:spAutoFit/>
          </a:bodyPr>
          <a:lstStyle/>
          <a:p>
            <a:pPr algn="l"/>
            <a:endParaRPr lang="en-US" sz="1200" b="0" i="0" u="none" strike="noStrike" baseline="0" dirty="0">
              <a:solidFill>
                <a:srgbClr val="000000"/>
              </a:solidFill>
              <a:latin typeface="Calibri" panose="020F0502020204030204" pitchFamily="34" charset="0"/>
            </a:endParaRPr>
          </a:p>
          <a:p>
            <a:r>
              <a:rPr lang="en-US" sz="1200" b="0" i="0" u="none" strike="noStrike" baseline="0" dirty="0">
                <a:solidFill>
                  <a:srgbClr val="000000"/>
                </a:solidFill>
                <a:latin typeface="Calibri" panose="020F0502020204030204" pitchFamily="34" charset="0"/>
              </a:rPr>
              <a:t> </a:t>
            </a:r>
            <a:r>
              <a:rPr lang="en-US" sz="2800" b="1" i="0" u="none" strike="noStrike" baseline="0" dirty="0">
                <a:solidFill>
                  <a:srgbClr val="000000"/>
                </a:solidFill>
                <a:latin typeface="Calibri" panose="020F0502020204030204" pitchFamily="34" charset="0"/>
              </a:rPr>
              <a:t>Issue Tracking System Using Spring Boot, Microservices, and MySQL </a:t>
            </a:r>
            <a:r>
              <a:rPr lang="en-US" sz="1600" b="0" i="0" u="none" strike="noStrike" baseline="0" dirty="0">
                <a:solidFill>
                  <a:srgbClr val="25880D"/>
                </a:solidFill>
                <a:latin typeface="Aptos" panose="020B0004020202020204" pitchFamily="34" charset="0"/>
              </a:rPr>
              <a:t>Version Dated: 05.2026 </a:t>
            </a:r>
            <a:endParaRPr lang="en-US" dirty="0"/>
          </a:p>
        </p:txBody>
      </p:sp>
    </p:spTree>
    <p:extLst>
      <p:ext uri="{BB962C8B-B14F-4D97-AF65-F5344CB8AC3E}">
        <p14:creationId xmlns:p14="http://schemas.microsoft.com/office/powerpoint/2010/main" val="2328393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0CD5B3-EC3C-0568-07B5-43D5FA939572}"/>
              </a:ext>
            </a:extLst>
          </p:cNvPr>
          <p:cNvSpPr txBox="1"/>
          <p:nvPr/>
        </p:nvSpPr>
        <p:spPr>
          <a:xfrm>
            <a:off x="338328" y="137160"/>
            <a:ext cx="8803386" cy="5524589"/>
          </a:xfrm>
          <a:prstGeom prst="rect">
            <a:avLst/>
          </a:prstGeom>
          <a:noFill/>
        </p:spPr>
        <p:txBody>
          <a:bodyPr wrap="square">
            <a:spAutoFit/>
          </a:bodyPr>
          <a:lstStyle/>
          <a:p>
            <a:r>
              <a:rPr lang="en-US" sz="1600" b="1" i="0" u="none" strike="noStrike" baseline="0" dirty="0">
                <a:solidFill>
                  <a:srgbClr val="000000"/>
                </a:solidFill>
                <a:latin typeface="Aptos" panose="020B0004020202020204" pitchFamily="34" charset="0"/>
              </a:rPr>
              <a:t>Table of Contents </a:t>
            </a:r>
            <a:endParaRPr lang="en-US" sz="1600" b="0" i="0" u="none" strike="noStrike" baseline="0" dirty="0">
              <a:solidFill>
                <a:srgbClr val="000000"/>
              </a:solidFill>
              <a:latin typeface="Aptos" panose="020B0004020202020204" pitchFamily="34" charset="0"/>
            </a:endParaRPr>
          </a:p>
          <a:p>
            <a:r>
              <a:rPr lang="en-US" sz="1400" b="0" i="0" u="none" strike="noStrike" baseline="0" dirty="0">
                <a:solidFill>
                  <a:srgbClr val="000000"/>
                </a:solidFill>
                <a:latin typeface="Aptos" panose="020B0004020202020204" pitchFamily="34" charset="0"/>
              </a:rPr>
              <a:t>Problem Statement 3 </a:t>
            </a:r>
          </a:p>
          <a:p>
            <a:r>
              <a:rPr lang="en-US" sz="1100" b="0" i="0" u="none" strike="noStrike" baseline="0" dirty="0">
                <a:solidFill>
                  <a:srgbClr val="000000"/>
                </a:solidFill>
                <a:latin typeface="Aptos" panose="020B0004020202020204" pitchFamily="34" charset="0"/>
              </a:rPr>
              <a:t>Project Overview 3 </a:t>
            </a:r>
          </a:p>
          <a:p>
            <a:r>
              <a:rPr lang="en-US" sz="1100" b="0" i="0" u="none" strike="noStrike" baseline="0" dirty="0">
                <a:solidFill>
                  <a:srgbClr val="000000"/>
                </a:solidFill>
                <a:latin typeface="Aptos" panose="020B0004020202020204" pitchFamily="34" charset="0"/>
              </a:rPr>
              <a:t>Objective 3 </a:t>
            </a:r>
          </a:p>
          <a:p>
            <a:r>
              <a:rPr lang="en-US" sz="1100" b="0" i="0" u="none" strike="noStrike" baseline="0" dirty="0">
                <a:solidFill>
                  <a:srgbClr val="000000"/>
                </a:solidFill>
                <a:latin typeface="Aptos" panose="020B0004020202020204" pitchFamily="34" charset="0"/>
              </a:rPr>
              <a:t>Tools and Technologies 3 </a:t>
            </a:r>
          </a:p>
          <a:p>
            <a:r>
              <a:rPr lang="en-US" sz="1100" b="0" i="0" u="none" strike="noStrike" baseline="0" dirty="0">
                <a:solidFill>
                  <a:srgbClr val="000000"/>
                </a:solidFill>
                <a:latin typeface="Aptos" panose="020B0004020202020204" pitchFamily="34" charset="0"/>
              </a:rPr>
              <a:t>Architecture 3 </a:t>
            </a:r>
          </a:p>
          <a:p>
            <a:r>
              <a:rPr lang="en-US" sz="1400" b="0" i="0" u="none" strike="noStrike" baseline="0" dirty="0">
                <a:solidFill>
                  <a:srgbClr val="000000"/>
                </a:solidFill>
                <a:latin typeface="Aptos" panose="020B0004020202020204" pitchFamily="34" charset="0"/>
              </a:rPr>
              <a:t>Functional Requirements 4 </a:t>
            </a:r>
          </a:p>
          <a:p>
            <a:r>
              <a:rPr lang="en-US" sz="1100" b="0" i="0" u="none" strike="noStrike" baseline="0" dirty="0">
                <a:solidFill>
                  <a:srgbClr val="000000"/>
                </a:solidFill>
                <a:latin typeface="Aptos" panose="020B0004020202020204" pitchFamily="34" charset="0"/>
              </a:rPr>
              <a:t>User Management 4 </a:t>
            </a:r>
          </a:p>
          <a:p>
            <a:r>
              <a:rPr lang="en-US" sz="1100" b="0" i="0" u="none" strike="noStrike" baseline="0" dirty="0">
                <a:solidFill>
                  <a:srgbClr val="000000"/>
                </a:solidFill>
                <a:latin typeface="Aptos" panose="020B0004020202020204" pitchFamily="34" charset="0"/>
              </a:rPr>
              <a:t>Sign Up 4 </a:t>
            </a:r>
          </a:p>
          <a:p>
            <a:r>
              <a:rPr lang="en-US" sz="1100" b="0" i="0" u="none" strike="noStrike" baseline="0" dirty="0">
                <a:solidFill>
                  <a:srgbClr val="000000"/>
                </a:solidFill>
                <a:latin typeface="Aptos" panose="020B0004020202020204" pitchFamily="34" charset="0"/>
              </a:rPr>
              <a:t>Login 4 </a:t>
            </a:r>
          </a:p>
          <a:p>
            <a:r>
              <a:rPr lang="en-US" sz="1100" b="0" i="0" u="none" strike="noStrike" baseline="0" dirty="0">
                <a:solidFill>
                  <a:srgbClr val="000000"/>
                </a:solidFill>
                <a:latin typeface="Aptos" panose="020B0004020202020204" pitchFamily="34" charset="0"/>
              </a:rPr>
              <a:t>Dashboard 4 </a:t>
            </a:r>
          </a:p>
          <a:p>
            <a:r>
              <a:rPr lang="en-US" sz="1100" b="0" i="0" u="none" strike="noStrike" baseline="0" dirty="0">
                <a:solidFill>
                  <a:srgbClr val="000000"/>
                </a:solidFill>
                <a:latin typeface="Aptos" panose="020B0004020202020204" pitchFamily="34" charset="0"/>
              </a:rPr>
              <a:t>Project Owner Module 4 </a:t>
            </a:r>
          </a:p>
          <a:p>
            <a:r>
              <a:rPr lang="en-US" sz="1100" b="0" i="0" u="none" strike="noStrike" baseline="0" dirty="0">
                <a:solidFill>
                  <a:srgbClr val="000000"/>
                </a:solidFill>
                <a:latin typeface="Aptos" panose="020B0004020202020204" pitchFamily="34" charset="0"/>
              </a:rPr>
              <a:t>Assignee Module 4 </a:t>
            </a:r>
          </a:p>
          <a:p>
            <a:r>
              <a:rPr lang="en-US" sz="1100" b="0" i="0" u="none" strike="noStrike" baseline="0" dirty="0">
                <a:solidFill>
                  <a:srgbClr val="000000"/>
                </a:solidFill>
                <a:latin typeface="Aptos" panose="020B0004020202020204" pitchFamily="34" charset="0"/>
              </a:rPr>
              <a:t>Create Project (Project Owner View) 4 </a:t>
            </a:r>
          </a:p>
          <a:p>
            <a:r>
              <a:rPr lang="en-US" sz="1100" b="0" i="0" u="none" strike="noStrike" baseline="0" dirty="0">
                <a:solidFill>
                  <a:srgbClr val="000000"/>
                </a:solidFill>
                <a:latin typeface="Aptos" panose="020B0004020202020204" pitchFamily="34" charset="0"/>
              </a:rPr>
              <a:t>Retrieve Projects (Project Owner View) 5 </a:t>
            </a:r>
          </a:p>
          <a:p>
            <a:r>
              <a:rPr lang="en-US" sz="1100" b="0" i="0" u="none" strike="noStrike" baseline="0" dirty="0">
                <a:solidFill>
                  <a:srgbClr val="000000"/>
                </a:solidFill>
                <a:latin typeface="Aptos" panose="020B0004020202020204" pitchFamily="34" charset="0"/>
              </a:rPr>
              <a:t>Create Issue (Project Owner View) 5 </a:t>
            </a:r>
          </a:p>
          <a:p>
            <a:r>
              <a:rPr lang="en-US" sz="1100" b="0" i="0" u="none" strike="noStrike" baseline="0" dirty="0">
                <a:solidFill>
                  <a:srgbClr val="000000"/>
                </a:solidFill>
                <a:latin typeface="Aptos" panose="020B0004020202020204" pitchFamily="34" charset="0"/>
              </a:rPr>
              <a:t>Issue Detail (Project Owner View/ Assignee View) 5 </a:t>
            </a:r>
          </a:p>
          <a:p>
            <a:r>
              <a:rPr lang="en-US" sz="1100" b="0" i="0" u="none" strike="noStrike" baseline="0" dirty="0">
                <a:solidFill>
                  <a:srgbClr val="000000"/>
                </a:solidFill>
                <a:latin typeface="Aptos" panose="020B0004020202020204" pitchFamily="34" charset="0"/>
              </a:rPr>
              <a:t>Retrieve Issues (Project Owner View) 5 </a:t>
            </a:r>
          </a:p>
          <a:p>
            <a:r>
              <a:rPr lang="en-US" sz="1100" b="0" i="0" u="none" strike="noStrike" baseline="0" dirty="0">
                <a:solidFill>
                  <a:srgbClr val="000000"/>
                </a:solidFill>
                <a:latin typeface="Aptos" panose="020B0004020202020204" pitchFamily="34" charset="0"/>
              </a:rPr>
              <a:t>Update Issue (Project Owner View) 5 </a:t>
            </a:r>
          </a:p>
          <a:p>
            <a:r>
              <a:rPr lang="en-US" sz="1100" b="0" i="0" u="none" strike="noStrike" baseline="0" dirty="0">
                <a:solidFill>
                  <a:srgbClr val="000000"/>
                </a:solidFill>
                <a:latin typeface="Aptos" panose="020B0004020202020204" pitchFamily="34" charset="0"/>
              </a:rPr>
              <a:t>Microservices Breakdown 5 </a:t>
            </a:r>
          </a:p>
          <a:p>
            <a:r>
              <a:rPr lang="en-US" sz="1100" b="0" i="0" u="none" strike="noStrike" baseline="0" dirty="0">
                <a:solidFill>
                  <a:srgbClr val="000000"/>
                </a:solidFill>
                <a:latin typeface="Aptos" panose="020B0004020202020204" pitchFamily="34" charset="0"/>
              </a:rPr>
              <a:t>API Specification 6 </a:t>
            </a:r>
          </a:p>
          <a:p>
            <a:r>
              <a:rPr lang="en-US" sz="1100" b="0" i="0" u="none" strike="noStrike" baseline="0" dirty="0">
                <a:solidFill>
                  <a:srgbClr val="000000"/>
                </a:solidFill>
                <a:latin typeface="Aptos" panose="020B0004020202020204" pitchFamily="34" charset="0"/>
              </a:rPr>
              <a:t>User Service Endpoints 6 </a:t>
            </a:r>
          </a:p>
          <a:p>
            <a:r>
              <a:rPr lang="en-US" sz="1100" b="0" i="0" u="none" strike="noStrike" baseline="0" dirty="0">
                <a:solidFill>
                  <a:srgbClr val="000000"/>
                </a:solidFill>
                <a:latin typeface="Aptos" panose="020B0004020202020204" pitchFamily="34" charset="0"/>
              </a:rPr>
              <a:t>Project Service Endpoints 6 </a:t>
            </a:r>
          </a:p>
          <a:p>
            <a:r>
              <a:rPr lang="en-US" sz="1100" b="0" i="0" u="none" strike="noStrike" baseline="0" dirty="0">
                <a:solidFill>
                  <a:srgbClr val="000000"/>
                </a:solidFill>
                <a:latin typeface="Aptos" panose="020B0004020202020204" pitchFamily="34" charset="0"/>
              </a:rPr>
              <a:t>Issue Service Endpoints 7 </a:t>
            </a:r>
          </a:p>
          <a:p>
            <a:r>
              <a:rPr lang="en-US" sz="1100" b="0" i="0" u="none" strike="noStrike" baseline="0" dirty="0">
                <a:solidFill>
                  <a:srgbClr val="000000"/>
                </a:solidFill>
                <a:latin typeface="Aptos" panose="020B0004020202020204" pitchFamily="34" charset="0"/>
              </a:rPr>
              <a:t>Database Structure 7 </a:t>
            </a:r>
          </a:p>
          <a:p>
            <a:r>
              <a:rPr lang="en-US" sz="1100" b="0" i="0" u="none" strike="noStrike" baseline="0" dirty="0">
                <a:solidFill>
                  <a:srgbClr val="000000"/>
                </a:solidFill>
                <a:latin typeface="Aptos" panose="020B0004020202020204" pitchFamily="34" charset="0"/>
              </a:rPr>
              <a:t>Implementation Strategy 7 </a:t>
            </a:r>
          </a:p>
          <a:p>
            <a:r>
              <a:rPr lang="en-US" sz="1400" b="0" i="0" u="none" strike="noStrike" baseline="0" dirty="0">
                <a:solidFill>
                  <a:srgbClr val="000000"/>
                </a:solidFill>
                <a:latin typeface="Aptos" panose="020B0004020202020204" pitchFamily="34" charset="0"/>
              </a:rPr>
              <a:t>Non-Functional Requirements </a:t>
            </a:r>
            <a:r>
              <a:rPr lang="en-US" sz="1400" b="0" i="0" u="none" strike="noStrike" baseline="0" dirty="0">
                <a:solidFill>
                  <a:srgbClr val="000000"/>
                </a:solidFill>
                <a:latin typeface="Calibri" panose="020F0502020204030204" pitchFamily="34" charset="0"/>
              </a:rPr>
              <a:t>8 </a:t>
            </a:r>
          </a:p>
          <a:p>
            <a:r>
              <a:rPr lang="en-US" sz="1400" b="0" i="0" u="none" strike="noStrike" baseline="0" dirty="0">
                <a:solidFill>
                  <a:srgbClr val="000000"/>
                </a:solidFill>
                <a:latin typeface="Aptos" panose="020B0004020202020204" pitchFamily="34" charset="0"/>
              </a:rPr>
              <a:t>Guidelines 8 </a:t>
            </a:r>
          </a:p>
          <a:p>
            <a:r>
              <a:rPr lang="en-US" sz="1400" b="0" i="0" u="none" strike="noStrike" baseline="0" dirty="0">
                <a:solidFill>
                  <a:srgbClr val="000000"/>
                </a:solidFill>
                <a:latin typeface="Aptos" panose="020B0004020202020204" pitchFamily="34" charset="0"/>
              </a:rPr>
              <a:t>Best Practices 8 </a:t>
            </a:r>
          </a:p>
          <a:p>
            <a:r>
              <a:rPr lang="en-US" sz="1400" b="0" i="0" u="none" strike="noStrike" baseline="0" dirty="0">
                <a:solidFill>
                  <a:srgbClr val="000000"/>
                </a:solidFill>
                <a:latin typeface="Aptos" panose="020B0004020202020204" pitchFamily="34" charset="0"/>
              </a:rPr>
              <a:t>Milestones and Evaluation Criteria </a:t>
            </a:r>
            <a:endParaRPr lang="en-US" dirty="0"/>
          </a:p>
        </p:txBody>
      </p:sp>
    </p:spTree>
    <p:extLst>
      <p:ext uri="{BB962C8B-B14F-4D97-AF65-F5344CB8AC3E}">
        <p14:creationId xmlns:p14="http://schemas.microsoft.com/office/powerpoint/2010/main" val="842036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329316-4C60-E2B0-C199-5EC6210EDECA}"/>
              </a:ext>
            </a:extLst>
          </p:cNvPr>
          <p:cNvSpPr txBox="1"/>
          <p:nvPr/>
        </p:nvSpPr>
        <p:spPr>
          <a:xfrm>
            <a:off x="237744" y="182880"/>
            <a:ext cx="8903970" cy="1954381"/>
          </a:xfrm>
          <a:prstGeom prst="rect">
            <a:avLst/>
          </a:prstGeom>
          <a:noFill/>
        </p:spPr>
        <p:txBody>
          <a:bodyPr wrap="square">
            <a:spAutoFit/>
          </a:bodyPr>
          <a:lstStyle/>
          <a:p>
            <a:r>
              <a:rPr lang="en-US" sz="1600" b="1" i="0" u="none" strike="noStrike" baseline="0" dirty="0">
                <a:solidFill>
                  <a:srgbClr val="000000"/>
                </a:solidFill>
                <a:latin typeface="Aptos" panose="020B0004020202020204" pitchFamily="34" charset="0"/>
              </a:rPr>
              <a:t>Problem Statement </a:t>
            </a:r>
            <a:endParaRPr lang="en-US" sz="1600" b="0" i="0" u="none" strike="noStrike" baseline="0" dirty="0">
              <a:solidFill>
                <a:srgbClr val="000000"/>
              </a:solidFill>
              <a:latin typeface="Aptos" panose="020B0004020202020204" pitchFamily="34" charset="0"/>
            </a:endParaRPr>
          </a:p>
          <a:p>
            <a:r>
              <a:rPr lang="en-US" sz="1400" b="1" i="0" u="none" strike="noStrike" baseline="0" dirty="0">
                <a:solidFill>
                  <a:srgbClr val="85BB24"/>
                </a:solidFill>
                <a:latin typeface="Aptos" panose="020B0004020202020204" pitchFamily="34" charset="0"/>
              </a:rPr>
              <a:t>Project Overview </a:t>
            </a:r>
            <a:endParaRPr lang="en-US" sz="1400" b="0" i="0" u="none" strike="noStrike" baseline="0" dirty="0">
              <a:solidFill>
                <a:srgbClr val="85BB24"/>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This case study describes the development of an Issue Tracking System (ITS) based on a microservices architecture. The system will handle project details, issues related to these projects, and user assignments. The system will allow users to create, update, and manage issues with various statuses, priorities, and assignments associated with those projects, and assignees (users) who interact with the application. It will be developed using Spring Boot for creating microservices and MySQL for database management. The system will provide RESTful services using Spring Boot and store data in a MySQL database. </a:t>
            </a:r>
          </a:p>
          <a:p>
            <a:r>
              <a:rPr lang="en-US" sz="1400" b="1" i="0" u="none" strike="noStrike" baseline="0" dirty="0">
                <a:solidFill>
                  <a:srgbClr val="85BB24"/>
                </a:solidFill>
                <a:latin typeface="Aptos" panose="020B0004020202020204" pitchFamily="34" charset="0"/>
              </a:rPr>
              <a:t>Objective </a:t>
            </a:r>
            <a:endParaRPr lang="en-US" sz="1400" b="0" i="0" u="none" strike="noStrike" baseline="0" dirty="0">
              <a:solidFill>
                <a:srgbClr val="85BB24"/>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Develop a RESTful service using Spring Boot, which will interact with a MySQL database to manage issues effectively. The system should provide endpoints for adding, retrieving, updating, and deleting issue records. </a:t>
            </a:r>
            <a:endParaRPr lang="en-US" dirty="0"/>
          </a:p>
        </p:txBody>
      </p:sp>
      <p:sp>
        <p:nvSpPr>
          <p:cNvPr id="7" name="TextBox 6">
            <a:extLst>
              <a:ext uri="{FF2B5EF4-FFF2-40B4-BE49-F238E27FC236}">
                <a16:creationId xmlns:a16="http://schemas.microsoft.com/office/drawing/2014/main" id="{DFCCFA31-A53B-596A-0EE4-244F285C06E1}"/>
              </a:ext>
            </a:extLst>
          </p:cNvPr>
          <p:cNvSpPr txBox="1"/>
          <p:nvPr/>
        </p:nvSpPr>
        <p:spPr>
          <a:xfrm>
            <a:off x="237744" y="2137261"/>
            <a:ext cx="8309610" cy="1384995"/>
          </a:xfrm>
          <a:prstGeom prst="rect">
            <a:avLst/>
          </a:prstGeom>
          <a:noFill/>
        </p:spPr>
        <p:txBody>
          <a:bodyPr wrap="square">
            <a:spAutoFit/>
          </a:bodyPr>
          <a:lstStyle/>
          <a:p>
            <a:endParaRPr lang="en-US" sz="1200" b="0" i="0" u="none" strike="noStrike" baseline="0" dirty="0">
              <a:latin typeface="Aptos" panose="020B0004020202020204" pitchFamily="34" charset="0"/>
            </a:endParaRPr>
          </a:p>
          <a:p>
            <a:r>
              <a:rPr lang="en-US" sz="1400" b="1" i="0" u="none" strike="noStrike" baseline="0" dirty="0">
                <a:solidFill>
                  <a:srgbClr val="85BB24"/>
                </a:solidFill>
                <a:latin typeface="Aptos" panose="020B0004020202020204" pitchFamily="34" charset="0"/>
              </a:rPr>
              <a:t>Tools and Technologies</a:t>
            </a:r>
          </a:p>
          <a:p>
            <a:r>
              <a:rPr lang="en-US" sz="1400" b="1" i="0" u="none" strike="noStrike" baseline="0" dirty="0">
                <a:solidFill>
                  <a:srgbClr val="85BB24"/>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Spring Boot </a:t>
            </a:r>
            <a:r>
              <a:rPr lang="en-US" sz="1100" b="0" i="0" u="none" strike="noStrike" baseline="0" dirty="0">
                <a:solidFill>
                  <a:srgbClr val="000000"/>
                </a:solidFill>
                <a:latin typeface="Aptos" panose="020B0004020202020204" pitchFamily="34" charset="0"/>
              </a:rPr>
              <a:t>	Framework for building microservices 	</a:t>
            </a:r>
          </a:p>
          <a:p>
            <a:r>
              <a:rPr lang="en-US" sz="1100" b="1" i="0" u="none" strike="noStrike" baseline="0" dirty="0">
                <a:solidFill>
                  <a:srgbClr val="000000"/>
                </a:solidFill>
                <a:latin typeface="Aptos" panose="020B0004020202020204" pitchFamily="34" charset="0"/>
              </a:rPr>
              <a:t>Spring Cloud </a:t>
            </a:r>
            <a:r>
              <a:rPr lang="en-US" sz="1100" b="0" i="0" u="none" strike="noStrike" baseline="0" dirty="0">
                <a:solidFill>
                  <a:srgbClr val="000000"/>
                </a:solidFill>
                <a:latin typeface="Aptos" panose="020B0004020202020204" pitchFamily="34" charset="0"/>
              </a:rPr>
              <a:t>	For microservices patterns like configuration management, service discovery 	</a:t>
            </a:r>
          </a:p>
          <a:p>
            <a:r>
              <a:rPr lang="en-US" sz="1100" b="1" i="0" u="none" strike="noStrike" baseline="0" dirty="0">
                <a:solidFill>
                  <a:srgbClr val="000000"/>
                </a:solidFill>
                <a:latin typeface="Aptos" panose="020B0004020202020204" pitchFamily="34" charset="0"/>
              </a:rPr>
              <a:t>Spring Cloud Gateway </a:t>
            </a:r>
            <a:r>
              <a:rPr lang="en-US" sz="1100" b="0" i="0" u="none" strike="noStrike" baseline="0" dirty="0">
                <a:solidFill>
                  <a:srgbClr val="000000"/>
                </a:solidFill>
                <a:latin typeface="Aptos" panose="020B0004020202020204" pitchFamily="34" charset="0"/>
              </a:rPr>
              <a:t>	For API gateway service 	</a:t>
            </a:r>
          </a:p>
          <a:p>
            <a:r>
              <a:rPr lang="en-US" sz="1100" b="1" i="0" u="none" strike="noStrike" baseline="0" dirty="0">
                <a:solidFill>
                  <a:srgbClr val="000000"/>
                </a:solidFill>
                <a:latin typeface="Aptos" panose="020B0004020202020204" pitchFamily="34" charset="0"/>
              </a:rPr>
              <a:t>MySQL </a:t>
            </a:r>
            <a:r>
              <a:rPr lang="en-US" sz="1100" b="0" i="0" u="none" strike="noStrike" baseline="0" dirty="0">
                <a:solidFill>
                  <a:srgbClr val="000000"/>
                </a:solidFill>
                <a:latin typeface="Aptos" panose="020B0004020202020204" pitchFamily="34" charset="0"/>
              </a:rPr>
              <a:t>	Database for storing data of different services 	</a:t>
            </a:r>
          </a:p>
          <a:p>
            <a:r>
              <a:rPr lang="en-US" sz="1100" b="1" i="0" u="none" strike="noStrike" baseline="0" dirty="0">
                <a:solidFill>
                  <a:srgbClr val="000000"/>
                </a:solidFill>
                <a:latin typeface="Aptos" panose="020B0004020202020204" pitchFamily="34" charset="0"/>
              </a:rPr>
              <a:t>Eureka Server </a:t>
            </a:r>
            <a:r>
              <a:rPr lang="en-US" sz="1100" b="0" i="0" u="none" strike="noStrike" baseline="0" dirty="0">
                <a:solidFill>
                  <a:srgbClr val="000000"/>
                </a:solidFill>
                <a:latin typeface="Aptos" panose="020B0004020202020204" pitchFamily="34" charset="0"/>
              </a:rPr>
              <a:t>	For service discovery 	</a:t>
            </a:r>
          </a:p>
        </p:txBody>
      </p:sp>
      <p:sp>
        <p:nvSpPr>
          <p:cNvPr id="9" name="TextBox 8">
            <a:extLst>
              <a:ext uri="{FF2B5EF4-FFF2-40B4-BE49-F238E27FC236}">
                <a16:creationId xmlns:a16="http://schemas.microsoft.com/office/drawing/2014/main" id="{1CAA6761-5F6B-4326-4D80-DFB7284CFB6C}"/>
              </a:ext>
            </a:extLst>
          </p:cNvPr>
          <p:cNvSpPr txBox="1"/>
          <p:nvPr/>
        </p:nvSpPr>
        <p:spPr>
          <a:xfrm>
            <a:off x="237744" y="3522256"/>
            <a:ext cx="6094476" cy="307777"/>
          </a:xfrm>
          <a:prstGeom prst="rect">
            <a:avLst/>
          </a:prstGeom>
          <a:noFill/>
        </p:spPr>
        <p:txBody>
          <a:bodyPr wrap="square">
            <a:spAutoFit/>
          </a:bodyPr>
          <a:lstStyle/>
          <a:p>
            <a:r>
              <a:rPr lang="en-US" sz="1400" b="1" i="0" u="none" strike="noStrike" baseline="0" dirty="0">
                <a:solidFill>
                  <a:srgbClr val="85BB24"/>
                </a:solidFill>
                <a:latin typeface="Aptos" panose="020B0004020202020204" pitchFamily="34" charset="0"/>
              </a:rPr>
              <a:t>Architecture </a:t>
            </a:r>
            <a:endParaRPr lang="en-US" dirty="0"/>
          </a:p>
        </p:txBody>
      </p:sp>
      <p:pic>
        <p:nvPicPr>
          <p:cNvPr id="11" name="Picture 10">
            <a:extLst>
              <a:ext uri="{FF2B5EF4-FFF2-40B4-BE49-F238E27FC236}">
                <a16:creationId xmlns:a16="http://schemas.microsoft.com/office/drawing/2014/main" id="{F60E63B5-5ABF-504C-5DA8-8B6803B9E103}"/>
              </a:ext>
            </a:extLst>
          </p:cNvPr>
          <p:cNvPicPr>
            <a:picLocks noChangeAspect="1"/>
          </p:cNvPicPr>
          <p:nvPr/>
        </p:nvPicPr>
        <p:blipFill>
          <a:blip r:embed="rId2"/>
          <a:stretch>
            <a:fillRect/>
          </a:stretch>
        </p:blipFill>
        <p:spPr>
          <a:xfrm>
            <a:off x="336070" y="3848321"/>
            <a:ext cx="4515556" cy="2540000"/>
          </a:xfrm>
          <a:prstGeom prst="rect">
            <a:avLst/>
          </a:prstGeom>
        </p:spPr>
      </p:pic>
    </p:spTree>
    <p:extLst>
      <p:ext uri="{BB962C8B-B14F-4D97-AF65-F5344CB8AC3E}">
        <p14:creationId xmlns:p14="http://schemas.microsoft.com/office/powerpoint/2010/main" val="3799826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D05FFEF-72AA-5027-BA7E-D65D07BD1295}"/>
              </a:ext>
            </a:extLst>
          </p:cNvPr>
          <p:cNvSpPr txBox="1"/>
          <p:nvPr/>
        </p:nvSpPr>
        <p:spPr>
          <a:xfrm>
            <a:off x="3047238" y="81930"/>
            <a:ext cx="6094476" cy="6694140"/>
          </a:xfrm>
          <a:prstGeom prst="rect">
            <a:avLst/>
          </a:prstGeom>
          <a:noFill/>
        </p:spPr>
        <p:txBody>
          <a:bodyPr wrap="square">
            <a:spAutoFit/>
          </a:bodyPr>
          <a:lstStyle/>
          <a:p>
            <a:r>
              <a:rPr lang="en-US" sz="1600" b="1" i="0" u="none" strike="noStrike" baseline="0" dirty="0">
                <a:solidFill>
                  <a:srgbClr val="000000"/>
                </a:solidFill>
                <a:latin typeface="Aptos" panose="020B0004020202020204" pitchFamily="34" charset="0"/>
              </a:rPr>
              <a:t>Functional Requirements </a:t>
            </a:r>
            <a:endParaRPr lang="en-US" sz="1600" b="0" i="0" u="none" strike="noStrike" baseline="0" dirty="0">
              <a:solidFill>
                <a:srgbClr val="000000"/>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The system will be divided into several microservices, each handling a specific domain of the application. </a:t>
            </a:r>
          </a:p>
          <a:p>
            <a:r>
              <a:rPr lang="en-US" sz="1100" b="0" i="0" u="none" strike="noStrike" baseline="0" dirty="0">
                <a:solidFill>
                  <a:srgbClr val="000000"/>
                </a:solidFill>
                <a:latin typeface="Aptos" panose="020B0004020202020204" pitchFamily="34" charset="0"/>
              </a:rPr>
              <a:t>Link to all Sample End Points: </a:t>
            </a:r>
          </a:p>
          <a:p>
            <a:r>
              <a:rPr lang="en-US" sz="1100" b="0" i="0" u="none" strike="noStrike" baseline="0" dirty="0">
                <a:solidFill>
                  <a:srgbClr val="000000"/>
                </a:solidFill>
                <a:latin typeface="Aptos" panose="020B0004020202020204" pitchFamily="34" charset="0"/>
              </a:rPr>
              <a:t>References- Endpoints and DB.xlsx </a:t>
            </a:r>
          </a:p>
          <a:p>
            <a:r>
              <a:rPr lang="en-US" sz="1400" b="1" i="0" u="none" strike="noStrike" baseline="0" dirty="0">
                <a:solidFill>
                  <a:srgbClr val="85BB24"/>
                </a:solidFill>
                <a:latin typeface="Aptos" panose="020B0004020202020204" pitchFamily="34" charset="0"/>
              </a:rPr>
              <a:t>User Management </a:t>
            </a:r>
            <a:endParaRPr lang="en-US" sz="1400" b="0" i="0" u="none" strike="noStrike" baseline="0" dirty="0">
              <a:solidFill>
                <a:srgbClr val="85BB24"/>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Sign Up </a:t>
            </a:r>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Allows creation of a new user with details including name, email, password, profile image, and role. </a:t>
            </a:r>
          </a:p>
          <a:p>
            <a:r>
              <a:rPr lang="en-US" sz="1100" b="1" i="0" u="none" strike="noStrike" baseline="0" dirty="0">
                <a:solidFill>
                  <a:srgbClr val="000000"/>
                </a:solidFill>
                <a:latin typeface="Aptos" panose="020B0004020202020204" pitchFamily="34" charset="0"/>
              </a:rPr>
              <a:t>Inputs: </a:t>
            </a:r>
            <a:r>
              <a:rPr lang="en-US" sz="1100" b="0" i="0" u="none" strike="noStrike" baseline="0" dirty="0">
                <a:solidFill>
                  <a:srgbClr val="000000"/>
                </a:solidFill>
                <a:latin typeface="Aptos" panose="020B0004020202020204" pitchFamily="34" charset="0"/>
              </a:rPr>
              <a:t>Name, email, password, profile Image, and role. </a:t>
            </a:r>
          </a:p>
          <a:p>
            <a:r>
              <a:rPr lang="en-US" sz="1100" b="1" i="0" u="none" strike="noStrike" baseline="0" dirty="0">
                <a:solidFill>
                  <a:srgbClr val="000000"/>
                </a:solidFill>
                <a:latin typeface="Aptos" panose="020B0004020202020204" pitchFamily="34" charset="0"/>
              </a:rPr>
              <a:t>Outputs: </a:t>
            </a:r>
            <a:r>
              <a:rPr lang="en-US" sz="1100" b="0" i="0" u="none" strike="noStrike" baseline="0" dirty="0">
                <a:solidFill>
                  <a:srgbClr val="000000"/>
                </a:solidFill>
                <a:latin typeface="Aptos" panose="020B0004020202020204" pitchFamily="34" charset="0"/>
              </a:rPr>
              <a:t>Confirmation of user creation with message “Your account is created successfully” with hyper link to login. </a:t>
            </a:r>
          </a:p>
          <a:p>
            <a:r>
              <a:rPr lang="en-US" sz="1100" b="1" i="0" u="none" strike="noStrike" baseline="0" dirty="0">
                <a:solidFill>
                  <a:srgbClr val="000000"/>
                </a:solidFill>
                <a:latin typeface="Aptos" panose="020B0004020202020204" pitchFamily="34" charset="0"/>
              </a:rPr>
              <a:t>Process: </a:t>
            </a:r>
            <a:r>
              <a:rPr lang="en-US" sz="1100" b="0" i="0" u="none" strike="noStrike" baseline="0" dirty="0">
                <a:solidFill>
                  <a:srgbClr val="000000"/>
                </a:solidFill>
                <a:latin typeface="Aptos" panose="020B0004020202020204" pitchFamily="34" charset="0"/>
              </a:rPr>
              <a:t>Validates input and adds a new user to the database. </a:t>
            </a:r>
          </a:p>
          <a:p>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Login </a:t>
            </a:r>
            <a:endParaRPr lang="en-US" sz="1100" b="0" i="0" u="none" strike="noStrike" baseline="0" dirty="0">
              <a:solidFill>
                <a:srgbClr val="000000"/>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The login screen is a common entry point for both Project Owners and Assignees. It includes the following fields: </a:t>
            </a:r>
          </a:p>
          <a:p>
            <a:r>
              <a:rPr lang="en-US" sz="1000" b="0" i="0" u="none" strike="noStrike" baseline="0" dirty="0">
                <a:solidFill>
                  <a:srgbClr val="000000"/>
                </a:solidFill>
                <a:latin typeface="Aptos" panose="020B0004020202020204" pitchFamily="34" charset="0"/>
              </a:rPr>
              <a:t>• Name </a:t>
            </a:r>
          </a:p>
          <a:p>
            <a:r>
              <a:rPr lang="en-US" sz="1000" b="0" i="0" u="none" strike="noStrike" baseline="0" dirty="0">
                <a:solidFill>
                  <a:srgbClr val="000000"/>
                </a:solidFill>
                <a:latin typeface="Aptos" panose="020B0004020202020204" pitchFamily="34" charset="0"/>
              </a:rPr>
              <a:t>• Email </a:t>
            </a:r>
          </a:p>
          <a:p>
            <a:r>
              <a:rPr lang="en-US" sz="1000" b="0" i="0" u="none" strike="noStrike" baseline="0" dirty="0">
                <a:solidFill>
                  <a:srgbClr val="000000"/>
                </a:solidFill>
                <a:latin typeface="Aptos" panose="020B0004020202020204" pitchFamily="34" charset="0"/>
              </a:rPr>
              <a:t>• Password </a:t>
            </a:r>
          </a:p>
          <a:p>
            <a:r>
              <a:rPr lang="en-US" sz="1000" b="0" i="0" u="none" strike="noStrike" baseline="0" dirty="0">
                <a:solidFill>
                  <a:srgbClr val="000000"/>
                </a:solidFill>
                <a:latin typeface="Aptos" panose="020B0004020202020204" pitchFamily="34" charset="0"/>
              </a:rPr>
              <a:t>• Profile Image (optional) </a:t>
            </a:r>
          </a:p>
          <a:p>
            <a:r>
              <a:rPr lang="en-US" sz="1000" b="0" i="0" u="none" strike="noStrike" baseline="0" dirty="0">
                <a:solidFill>
                  <a:srgbClr val="000000"/>
                </a:solidFill>
                <a:latin typeface="Aptos" panose="020B0004020202020204" pitchFamily="34" charset="0"/>
              </a:rPr>
              <a:t>• Role (Project Owner or Assignee) </a:t>
            </a:r>
          </a:p>
          <a:p>
            <a:endParaRPr lang="en-US" sz="1000" b="0" i="0" u="none" strike="noStrike" baseline="0" dirty="0">
              <a:solidFill>
                <a:srgbClr val="000000"/>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Upon successful login, users are redirected to their respective dashboards based on their role. </a:t>
            </a:r>
          </a:p>
          <a:p>
            <a:r>
              <a:rPr lang="en-US" sz="1400" b="1" i="0" u="none" strike="noStrike" baseline="0" dirty="0">
                <a:solidFill>
                  <a:srgbClr val="85BB24"/>
                </a:solidFill>
                <a:latin typeface="Aptos" panose="020B0004020202020204" pitchFamily="34" charset="0"/>
              </a:rPr>
              <a:t>Dashboard </a:t>
            </a:r>
            <a:endParaRPr lang="en-US" sz="1400" b="0" i="0" u="none" strike="noStrike" baseline="0" dirty="0">
              <a:solidFill>
                <a:srgbClr val="85BB24"/>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The dashboard provides a summary of the relevant information for each user role: </a:t>
            </a:r>
          </a:p>
          <a:p>
            <a:r>
              <a:rPr lang="en-US" sz="1400" b="1" i="0" u="none" strike="noStrike" baseline="0" dirty="0">
                <a:solidFill>
                  <a:srgbClr val="85BB24"/>
                </a:solidFill>
                <a:latin typeface="Aptos" panose="020B0004020202020204" pitchFamily="34" charset="0"/>
              </a:rPr>
              <a:t>Project Owner Module </a:t>
            </a:r>
            <a:endParaRPr lang="en-US" sz="1400" b="0" i="0" u="none" strike="noStrike" baseline="0" dirty="0">
              <a:solidFill>
                <a:srgbClr val="85BB24"/>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The Project Owner module includes functionalities for project and issue management: dashboard overview, project creation, management, issue creation, management, and assignment. </a:t>
            </a:r>
          </a:p>
          <a:p>
            <a:r>
              <a:rPr lang="en-US" sz="1400" b="1" i="0" u="none" strike="noStrike" baseline="0" dirty="0">
                <a:solidFill>
                  <a:srgbClr val="85BB24"/>
                </a:solidFill>
                <a:latin typeface="Aptos" panose="020B0004020202020204" pitchFamily="34" charset="0"/>
              </a:rPr>
              <a:t>Assignee Module </a:t>
            </a:r>
            <a:endParaRPr lang="en-US" sz="1400" b="0" i="0" u="none" strike="noStrike" baseline="0" dirty="0">
              <a:solidFill>
                <a:srgbClr val="85BB24"/>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The Assignee module includes functionalities for issue management: dashboard overview, viewing assigned issues and updating issue status. </a:t>
            </a:r>
          </a:p>
          <a:p>
            <a:r>
              <a:rPr lang="en-US" sz="1100" b="1" i="0" u="none" strike="noStrike" baseline="0" dirty="0">
                <a:solidFill>
                  <a:srgbClr val="000000"/>
                </a:solidFill>
                <a:latin typeface="Aptos" panose="020B0004020202020204" pitchFamily="34" charset="0"/>
              </a:rPr>
              <a:t>Create Project (Project Owner View) </a:t>
            </a:r>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Allows creation of a new project with details such as project name, product owner, start date, and end date </a:t>
            </a:r>
          </a:p>
          <a:p>
            <a:r>
              <a:rPr lang="en-US" sz="1100" b="1" i="0" u="none" strike="noStrike" baseline="0" dirty="0">
                <a:solidFill>
                  <a:srgbClr val="000000"/>
                </a:solidFill>
                <a:latin typeface="Aptos" panose="020B0004020202020204" pitchFamily="34" charset="0"/>
              </a:rPr>
              <a:t>Inputs: </a:t>
            </a:r>
            <a:r>
              <a:rPr lang="en-US" sz="1100" b="0" i="0" u="none" strike="noStrike" baseline="0" dirty="0">
                <a:solidFill>
                  <a:srgbClr val="000000"/>
                </a:solidFill>
                <a:latin typeface="Aptos" panose="020B0004020202020204" pitchFamily="34" charset="0"/>
              </a:rPr>
              <a:t>Project name, product owner ID, start date, and end date </a:t>
            </a:r>
          </a:p>
          <a:p>
            <a:r>
              <a:rPr lang="en-US" sz="1100" b="1" i="0" u="none" strike="noStrike" baseline="0" dirty="0">
                <a:solidFill>
                  <a:srgbClr val="000000"/>
                </a:solidFill>
                <a:latin typeface="Aptos" panose="020B0004020202020204" pitchFamily="34" charset="0"/>
              </a:rPr>
              <a:t>Outputs: </a:t>
            </a:r>
            <a:r>
              <a:rPr lang="en-US" sz="1100" b="0" i="0" u="none" strike="noStrike" baseline="0" dirty="0">
                <a:solidFill>
                  <a:srgbClr val="000000"/>
                </a:solidFill>
                <a:latin typeface="Aptos" panose="020B0004020202020204" pitchFamily="34" charset="0"/>
              </a:rPr>
              <a:t>Confirmation of project creation, project ID </a:t>
            </a:r>
          </a:p>
          <a:p>
            <a:r>
              <a:rPr lang="en-US" sz="1100" b="1" i="0" u="none" strike="noStrike" baseline="0" dirty="0">
                <a:solidFill>
                  <a:srgbClr val="000000"/>
                </a:solidFill>
                <a:latin typeface="Aptos" panose="020B0004020202020204" pitchFamily="34" charset="0"/>
              </a:rPr>
              <a:t>Process: </a:t>
            </a:r>
            <a:r>
              <a:rPr lang="en-US" sz="1100" b="0" i="0" u="none" strike="noStrike" baseline="0" dirty="0">
                <a:solidFill>
                  <a:srgbClr val="000000"/>
                </a:solidFill>
                <a:latin typeface="Aptos" panose="020B0004020202020204" pitchFamily="34" charset="0"/>
              </a:rPr>
              <a:t>Validates input and adds a new project to the database </a:t>
            </a:r>
          </a:p>
        </p:txBody>
      </p:sp>
    </p:spTree>
    <p:extLst>
      <p:ext uri="{BB962C8B-B14F-4D97-AF65-F5344CB8AC3E}">
        <p14:creationId xmlns:p14="http://schemas.microsoft.com/office/powerpoint/2010/main" val="2640768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3444F5-185F-0748-EC45-7BE6FD768E50}"/>
              </a:ext>
            </a:extLst>
          </p:cNvPr>
          <p:cNvSpPr txBox="1"/>
          <p:nvPr/>
        </p:nvSpPr>
        <p:spPr>
          <a:xfrm>
            <a:off x="3047238" y="143485"/>
            <a:ext cx="6094476" cy="6571030"/>
          </a:xfrm>
          <a:prstGeom prst="rect">
            <a:avLst/>
          </a:prstGeom>
          <a:noFill/>
        </p:spPr>
        <p:txBody>
          <a:bodyPr wrap="square">
            <a:spAutoFit/>
          </a:bodyPr>
          <a:lstStyle/>
          <a:p>
            <a:r>
              <a:rPr lang="en-US" sz="1100" b="1" i="0" u="none" strike="noStrike" baseline="0" dirty="0">
                <a:solidFill>
                  <a:srgbClr val="000000"/>
                </a:solidFill>
                <a:latin typeface="Aptos" panose="020B0004020202020204" pitchFamily="34" charset="0"/>
              </a:rPr>
              <a:t>Retrieve Projects (Project Owner View) </a:t>
            </a:r>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Allows retrieval of all projects or a single project by ID </a:t>
            </a:r>
          </a:p>
          <a:p>
            <a:r>
              <a:rPr lang="en-US" sz="1100" b="1" i="0" u="none" strike="noStrike" baseline="0" dirty="0">
                <a:solidFill>
                  <a:srgbClr val="000000"/>
                </a:solidFill>
                <a:latin typeface="Aptos" panose="020B0004020202020204" pitchFamily="34" charset="0"/>
              </a:rPr>
              <a:t>Inputs: </a:t>
            </a:r>
            <a:r>
              <a:rPr lang="en-US" sz="1100" b="0" i="0" u="none" strike="noStrike" baseline="0" dirty="0">
                <a:solidFill>
                  <a:srgbClr val="000000"/>
                </a:solidFill>
                <a:latin typeface="Aptos" panose="020B0004020202020204" pitchFamily="34" charset="0"/>
              </a:rPr>
              <a:t>Project ID </a:t>
            </a:r>
          </a:p>
          <a:p>
            <a:r>
              <a:rPr lang="en-US" sz="1100" b="1" i="0" u="none" strike="noStrike" baseline="0" dirty="0">
                <a:solidFill>
                  <a:srgbClr val="000000"/>
                </a:solidFill>
                <a:latin typeface="Aptos" panose="020B0004020202020204" pitchFamily="34" charset="0"/>
              </a:rPr>
              <a:t>Outputs: </a:t>
            </a:r>
            <a:r>
              <a:rPr lang="en-US" sz="1100" b="0" i="0" u="none" strike="noStrike" baseline="0" dirty="0">
                <a:solidFill>
                  <a:srgbClr val="000000"/>
                </a:solidFill>
                <a:latin typeface="Aptos" panose="020B0004020202020204" pitchFamily="34" charset="0"/>
              </a:rPr>
              <a:t>List of projects or single project details </a:t>
            </a:r>
          </a:p>
          <a:p>
            <a:r>
              <a:rPr lang="en-US" sz="1100" b="1" i="0" u="none" strike="noStrike" baseline="0" dirty="0">
                <a:solidFill>
                  <a:srgbClr val="000000"/>
                </a:solidFill>
                <a:latin typeface="Aptos" panose="020B0004020202020204" pitchFamily="34" charset="0"/>
              </a:rPr>
              <a:t>Process: </a:t>
            </a:r>
            <a:r>
              <a:rPr lang="en-US" sz="1100" b="0" i="0" u="none" strike="noStrike" baseline="0" dirty="0">
                <a:solidFill>
                  <a:srgbClr val="000000"/>
                </a:solidFill>
                <a:latin typeface="Aptos" panose="020B0004020202020204" pitchFamily="34" charset="0"/>
              </a:rPr>
              <a:t>Fetches project details from the database </a:t>
            </a:r>
          </a:p>
          <a:p>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Create Issue (Project Owner View) </a:t>
            </a:r>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Allows creation of a new issue related to a project </a:t>
            </a:r>
          </a:p>
          <a:p>
            <a:r>
              <a:rPr lang="en-US" sz="1100" b="1" i="0" u="none" strike="noStrike" baseline="0" dirty="0">
                <a:solidFill>
                  <a:srgbClr val="000000"/>
                </a:solidFill>
                <a:latin typeface="Aptos" panose="020B0004020202020204" pitchFamily="34" charset="0"/>
              </a:rPr>
              <a:t>Inputs: </a:t>
            </a:r>
            <a:r>
              <a:rPr lang="en-US" sz="1100" b="0" i="0" u="none" strike="noStrike" baseline="0" dirty="0">
                <a:solidFill>
                  <a:srgbClr val="000000"/>
                </a:solidFill>
                <a:latin typeface="Aptos" panose="020B0004020202020204" pitchFamily="34" charset="0"/>
              </a:rPr>
              <a:t>Summary, project ID, description, priority, assignee ID, status, created date, last updated date, and comments </a:t>
            </a:r>
          </a:p>
          <a:p>
            <a:r>
              <a:rPr lang="en-US" sz="1100" b="1" i="0" u="none" strike="noStrike" baseline="0" dirty="0">
                <a:solidFill>
                  <a:srgbClr val="000000"/>
                </a:solidFill>
                <a:latin typeface="Aptos" panose="020B0004020202020204" pitchFamily="34" charset="0"/>
              </a:rPr>
              <a:t>Outputs: </a:t>
            </a:r>
            <a:r>
              <a:rPr lang="en-US" sz="1100" b="0" i="0" u="none" strike="noStrike" baseline="0" dirty="0">
                <a:solidFill>
                  <a:srgbClr val="000000"/>
                </a:solidFill>
                <a:latin typeface="Aptos" panose="020B0004020202020204" pitchFamily="34" charset="0"/>
              </a:rPr>
              <a:t>Confirmation of issue creation, issue ID </a:t>
            </a:r>
          </a:p>
          <a:p>
            <a:r>
              <a:rPr lang="en-US" sz="1100" b="1" i="0" u="none" strike="noStrike" baseline="0" dirty="0">
                <a:solidFill>
                  <a:srgbClr val="000000"/>
                </a:solidFill>
                <a:latin typeface="Aptos" panose="020B0004020202020204" pitchFamily="34" charset="0"/>
              </a:rPr>
              <a:t>Process: </a:t>
            </a:r>
            <a:r>
              <a:rPr lang="en-US" sz="1100" b="0" i="0" u="none" strike="noStrike" baseline="0" dirty="0">
                <a:solidFill>
                  <a:srgbClr val="000000"/>
                </a:solidFill>
                <a:latin typeface="Aptos" panose="020B0004020202020204" pitchFamily="34" charset="0"/>
              </a:rPr>
              <a:t>Validates input and adds a new issue to the database </a:t>
            </a:r>
          </a:p>
          <a:p>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Issue Detail (Project Owner View/ Assignee View) </a:t>
            </a:r>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Allows retrieval of all issues, a single issue by ID, issues by project, or issues by user (assignee) </a:t>
            </a:r>
          </a:p>
          <a:p>
            <a:r>
              <a:rPr lang="en-US" sz="1100" b="1" i="0" u="none" strike="noStrike" baseline="0" dirty="0">
                <a:solidFill>
                  <a:srgbClr val="000000"/>
                </a:solidFill>
                <a:latin typeface="Aptos" panose="020B0004020202020204" pitchFamily="34" charset="0"/>
              </a:rPr>
              <a:t>Inputs: </a:t>
            </a:r>
            <a:r>
              <a:rPr lang="en-US" sz="1100" b="0" i="0" u="none" strike="noStrike" baseline="0" dirty="0">
                <a:solidFill>
                  <a:srgbClr val="000000"/>
                </a:solidFill>
                <a:latin typeface="Aptos" panose="020B0004020202020204" pitchFamily="34" charset="0"/>
              </a:rPr>
              <a:t>Issue ID or project ID or user ID </a:t>
            </a:r>
          </a:p>
          <a:p>
            <a:r>
              <a:rPr lang="en-US" sz="1100" b="1" i="0" u="none" strike="noStrike" baseline="0" dirty="0">
                <a:solidFill>
                  <a:srgbClr val="000000"/>
                </a:solidFill>
                <a:latin typeface="Aptos" panose="020B0004020202020204" pitchFamily="34" charset="0"/>
              </a:rPr>
              <a:t>Outputs: </a:t>
            </a:r>
            <a:r>
              <a:rPr lang="en-US" sz="1100" b="0" i="0" u="none" strike="noStrike" baseline="0" dirty="0">
                <a:solidFill>
                  <a:srgbClr val="000000"/>
                </a:solidFill>
                <a:latin typeface="Aptos" panose="020B0004020202020204" pitchFamily="34" charset="0"/>
              </a:rPr>
              <a:t>List of issues or single-issue details </a:t>
            </a:r>
          </a:p>
          <a:p>
            <a:r>
              <a:rPr lang="en-US" sz="1100" b="1" i="0" u="none" strike="noStrike" baseline="0" dirty="0">
                <a:solidFill>
                  <a:srgbClr val="000000"/>
                </a:solidFill>
                <a:latin typeface="Aptos" panose="020B0004020202020204" pitchFamily="34" charset="0"/>
              </a:rPr>
              <a:t>Process: </a:t>
            </a:r>
            <a:r>
              <a:rPr lang="en-US" sz="1100" b="0" i="0" u="none" strike="noStrike" baseline="0" dirty="0">
                <a:solidFill>
                  <a:srgbClr val="000000"/>
                </a:solidFill>
                <a:latin typeface="Aptos" panose="020B0004020202020204" pitchFamily="34" charset="0"/>
              </a:rPr>
              <a:t>Fetches issue details from the database based on the provided criteria </a:t>
            </a:r>
          </a:p>
          <a:p>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Retrieve Issues (Project Owner View) </a:t>
            </a:r>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Allows retrieval of all issues, a single issue by ID, issues by project, or issues by user (assignee) </a:t>
            </a:r>
          </a:p>
          <a:p>
            <a:r>
              <a:rPr lang="en-US" sz="1100" b="1" i="0" u="none" strike="noStrike" baseline="0" dirty="0">
                <a:solidFill>
                  <a:srgbClr val="000000"/>
                </a:solidFill>
                <a:latin typeface="Aptos" panose="020B0004020202020204" pitchFamily="34" charset="0"/>
              </a:rPr>
              <a:t>Inputs: </a:t>
            </a:r>
            <a:r>
              <a:rPr lang="en-US" sz="1100" b="0" i="0" u="none" strike="noStrike" baseline="0" dirty="0">
                <a:solidFill>
                  <a:srgbClr val="000000"/>
                </a:solidFill>
                <a:latin typeface="Aptos" panose="020B0004020202020204" pitchFamily="34" charset="0"/>
              </a:rPr>
              <a:t>Issue ID or project ID or user ID </a:t>
            </a:r>
          </a:p>
          <a:p>
            <a:r>
              <a:rPr lang="en-US" sz="1100" b="1" i="0" u="none" strike="noStrike" baseline="0" dirty="0">
                <a:solidFill>
                  <a:srgbClr val="000000"/>
                </a:solidFill>
                <a:latin typeface="Aptos" panose="020B0004020202020204" pitchFamily="34" charset="0"/>
              </a:rPr>
              <a:t>Outputs: </a:t>
            </a:r>
            <a:r>
              <a:rPr lang="en-US" sz="1100" b="0" i="0" u="none" strike="noStrike" baseline="0" dirty="0">
                <a:solidFill>
                  <a:srgbClr val="000000"/>
                </a:solidFill>
                <a:latin typeface="Aptos" panose="020B0004020202020204" pitchFamily="34" charset="0"/>
              </a:rPr>
              <a:t>List of issues or single-issue details </a:t>
            </a:r>
          </a:p>
          <a:p>
            <a:r>
              <a:rPr lang="en-US" sz="1100" b="1" i="0" u="none" strike="noStrike" baseline="0" dirty="0">
                <a:solidFill>
                  <a:srgbClr val="000000"/>
                </a:solidFill>
                <a:latin typeface="Aptos" panose="020B0004020202020204" pitchFamily="34" charset="0"/>
              </a:rPr>
              <a:t>Process: </a:t>
            </a:r>
            <a:r>
              <a:rPr lang="en-US" sz="1100" b="0" i="0" u="none" strike="noStrike" baseline="0" dirty="0">
                <a:solidFill>
                  <a:srgbClr val="000000"/>
                </a:solidFill>
                <a:latin typeface="Aptos" panose="020B0004020202020204" pitchFamily="34" charset="0"/>
              </a:rPr>
              <a:t>Fetches issue details from the database based on the provided criteria </a:t>
            </a:r>
          </a:p>
          <a:p>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Update Issue (Project Owner View) </a:t>
            </a:r>
            <a:endParaRPr lang="en-US" sz="1100" b="0" i="0" u="none" strike="noStrike" baseline="0" dirty="0">
              <a:solidFill>
                <a:srgbClr val="000000"/>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Allows updating existing issue details </a:t>
            </a:r>
          </a:p>
          <a:p>
            <a:r>
              <a:rPr lang="en-US" sz="1100" b="1" i="0" u="none" strike="noStrike" baseline="0" dirty="0">
                <a:solidFill>
                  <a:srgbClr val="000000"/>
                </a:solidFill>
                <a:latin typeface="Aptos" panose="020B0004020202020204" pitchFamily="34" charset="0"/>
              </a:rPr>
              <a:t>Inputs: </a:t>
            </a:r>
            <a:r>
              <a:rPr lang="en-US" sz="1100" b="0" i="0" u="none" strike="noStrike" baseline="0" dirty="0">
                <a:solidFill>
                  <a:srgbClr val="000000"/>
                </a:solidFill>
                <a:latin typeface="Aptos" panose="020B0004020202020204" pitchFamily="34" charset="0"/>
              </a:rPr>
              <a:t>Issue ID, fields to update such as status, assignee </a:t>
            </a:r>
          </a:p>
          <a:p>
            <a:r>
              <a:rPr lang="en-US" sz="1100" b="1" i="0" u="none" strike="noStrike" baseline="0" dirty="0">
                <a:solidFill>
                  <a:srgbClr val="000000"/>
                </a:solidFill>
                <a:latin typeface="Aptos" panose="020B0004020202020204" pitchFamily="34" charset="0"/>
              </a:rPr>
              <a:t>Outputs: </a:t>
            </a:r>
            <a:r>
              <a:rPr lang="en-US" sz="1100" b="0" i="0" u="none" strike="noStrike" baseline="0" dirty="0">
                <a:solidFill>
                  <a:srgbClr val="000000"/>
                </a:solidFill>
                <a:latin typeface="Aptos" panose="020B0004020202020204" pitchFamily="34" charset="0"/>
              </a:rPr>
              <a:t>Updated issue details </a:t>
            </a:r>
          </a:p>
          <a:p>
            <a:r>
              <a:rPr lang="en-US" sz="1100" b="1" i="0" u="none" strike="noStrike" baseline="0" dirty="0">
                <a:solidFill>
                  <a:srgbClr val="000000"/>
                </a:solidFill>
                <a:latin typeface="Aptos" panose="020B0004020202020204" pitchFamily="34" charset="0"/>
              </a:rPr>
              <a:t>Process: </a:t>
            </a:r>
            <a:r>
              <a:rPr lang="en-US" sz="1100" b="0" i="0" u="none" strike="noStrike" baseline="0" dirty="0">
                <a:solidFill>
                  <a:srgbClr val="000000"/>
                </a:solidFill>
                <a:latin typeface="Aptos" panose="020B0004020202020204" pitchFamily="34" charset="0"/>
              </a:rPr>
              <a:t>Validates changes and updates the issue details in the database </a:t>
            </a:r>
          </a:p>
          <a:p>
            <a:endParaRPr lang="en-US" sz="1100" b="0" i="0" u="none" strike="noStrike" baseline="0" dirty="0">
              <a:solidFill>
                <a:srgbClr val="000000"/>
              </a:solidFill>
              <a:latin typeface="Aptos" panose="020B0004020202020204" pitchFamily="34" charset="0"/>
            </a:endParaRPr>
          </a:p>
          <a:p>
            <a:r>
              <a:rPr lang="en-US" sz="1400" b="1" i="0" u="none" strike="noStrike" baseline="0" dirty="0">
                <a:solidFill>
                  <a:srgbClr val="85BB24"/>
                </a:solidFill>
                <a:latin typeface="Aptos" panose="020B0004020202020204" pitchFamily="34" charset="0"/>
              </a:rPr>
              <a:t>Microservices Breakdown </a:t>
            </a:r>
            <a:endParaRPr lang="en-US" sz="1400" b="0" i="0" u="none" strike="noStrike" baseline="0" dirty="0">
              <a:solidFill>
                <a:srgbClr val="85BB24"/>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Project Service: </a:t>
            </a:r>
            <a:r>
              <a:rPr lang="en-US" sz="1100" b="0" i="0" u="none" strike="noStrike" baseline="0" dirty="0">
                <a:solidFill>
                  <a:srgbClr val="000000"/>
                </a:solidFill>
                <a:latin typeface="Aptos" panose="020B0004020202020204" pitchFamily="34" charset="0"/>
              </a:rPr>
              <a:t>Manages all project-related operations </a:t>
            </a:r>
          </a:p>
          <a:p>
            <a:r>
              <a:rPr lang="en-US" sz="1100" b="1" i="0" u="none" strike="noStrike" baseline="0" dirty="0">
                <a:solidFill>
                  <a:srgbClr val="000000"/>
                </a:solidFill>
                <a:latin typeface="Aptos" panose="020B0004020202020204" pitchFamily="34" charset="0"/>
              </a:rPr>
              <a:t>Issue Service: </a:t>
            </a:r>
            <a:r>
              <a:rPr lang="en-US" sz="1100" b="0" i="0" u="none" strike="noStrike" baseline="0" dirty="0">
                <a:solidFill>
                  <a:srgbClr val="000000"/>
                </a:solidFill>
                <a:latin typeface="Aptos" panose="020B0004020202020204" pitchFamily="34" charset="0"/>
              </a:rPr>
              <a:t>Handles issues within projects </a:t>
            </a:r>
          </a:p>
          <a:p>
            <a:r>
              <a:rPr lang="en-US" sz="1100" b="1" i="0" u="none" strike="noStrike" baseline="0" dirty="0">
                <a:solidFill>
                  <a:srgbClr val="000000"/>
                </a:solidFill>
                <a:latin typeface="Aptos" panose="020B0004020202020204" pitchFamily="34" charset="0"/>
              </a:rPr>
              <a:t>User Service: </a:t>
            </a:r>
            <a:r>
              <a:rPr lang="en-US" sz="1100" b="0" i="0" u="none" strike="noStrike" baseline="0" dirty="0">
                <a:solidFill>
                  <a:srgbClr val="000000"/>
                </a:solidFill>
                <a:latin typeface="Aptos" panose="020B0004020202020204" pitchFamily="34" charset="0"/>
              </a:rPr>
              <a:t>Manages user information and roles </a:t>
            </a:r>
          </a:p>
          <a:p>
            <a:r>
              <a:rPr lang="en-US" sz="1100" b="1" i="0" u="none" strike="noStrike" baseline="0" dirty="0">
                <a:solidFill>
                  <a:srgbClr val="000000"/>
                </a:solidFill>
                <a:latin typeface="Aptos" panose="020B0004020202020204" pitchFamily="34" charset="0"/>
              </a:rPr>
              <a:t>Comment Service: </a:t>
            </a:r>
            <a:r>
              <a:rPr lang="en-US" sz="1100" b="0" i="0" u="none" strike="noStrike" baseline="0" dirty="0">
                <a:solidFill>
                  <a:srgbClr val="000000"/>
                </a:solidFill>
                <a:latin typeface="Aptos" panose="020B0004020202020204" pitchFamily="34" charset="0"/>
              </a:rPr>
              <a:t>Manages comments related to an issue </a:t>
            </a:r>
          </a:p>
        </p:txBody>
      </p:sp>
    </p:spTree>
    <p:extLst>
      <p:ext uri="{BB962C8B-B14F-4D97-AF65-F5344CB8AC3E}">
        <p14:creationId xmlns:p14="http://schemas.microsoft.com/office/powerpoint/2010/main" val="3325841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5658B1E-CBC1-2193-1A58-1F442891A222}"/>
              </a:ext>
            </a:extLst>
          </p:cNvPr>
          <p:cNvSpPr txBox="1"/>
          <p:nvPr/>
        </p:nvSpPr>
        <p:spPr>
          <a:xfrm>
            <a:off x="230886" y="88315"/>
            <a:ext cx="6094476" cy="646331"/>
          </a:xfrm>
          <a:prstGeom prst="rect">
            <a:avLst/>
          </a:prstGeom>
          <a:noFill/>
        </p:spPr>
        <p:txBody>
          <a:bodyPr wrap="square">
            <a:spAutoFit/>
          </a:bodyPr>
          <a:lstStyle/>
          <a:p>
            <a:r>
              <a:rPr lang="en-US" sz="1400" b="1" i="0" u="none" strike="noStrike" baseline="0" dirty="0">
                <a:solidFill>
                  <a:srgbClr val="85BB24"/>
                </a:solidFill>
                <a:latin typeface="Aptos" panose="020B0004020202020204" pitchFamily="34" charset="0"/>
              </a:rPr>
              <a:t>API Specification </a:t>
            </a:r>
            <a:endParaRPr lang="en-US" sz="1400" b="0" i="0" u="none" strike="noStrike" baseline="0" dirty="0">
              <a:solidFill>
                <a:srgbClr val="85BB24"/>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(Link is also shared above with sample data in table format and sample endpoint outcomes) </a:t>
            </a:r>
          </a:p>
          <a:p>
            <a:r>
              <a:rPr lang="en-US" sz="1100" b="1" i="0" u="none" strike="noStrike" baseline="0" dirty="0">
                <a:solidFill>
                  <a:srgbClr val="000000"/>
                </a:solidFill>
                <a:latin typeface="Aptos" panose="020B0004020202020204" pitchFamily="34" charset="0"/>
              </a:rPr>
              <a:t>User Service Endpoints </a:t>
            </a:r>
            <a:endParaRPr lang="en-US" dirty="0"/>
          </a:p>
        </p:txBody>
      </p:sp>
      <p:sp>
        <p:nvSpPr>
          <p:cNvPr id="7" name="TextBox 6">
            <a:extLst>
              <a:ext uri="{FF2B5EF4-FFF2-40B4-BE49-F238E27FC236}">
                <a16:creationId xmlns:a16="http://schemas.microsoft.com/office/drawing/2014/main" id="{10FE281E-73F8-FD90-7A8E-08EF51698FF0}"/>
              </a:ext>
            </a:extLst>
          </p:cNvPr>
          <p:cNvSpPr txBox="1"/>
          <p:nvPr/>
        </p:nvSpPr>
        <p:spPr>
          <a:xfrm>
            <a:off x="230886" y="751344"/>
            <a:ext cx="6094476" cy="1615827"/>
          </a:xfrm>
          <a:prstGeom prst="rect">
            <a:avLst/>
          </a:prstGeom>
          <a:noFill/>
        </p:spPr>
        <p:txBody>
          <a:bodyPr wrap="square">
            <a:spAutoFit/>
          </a:bodyPr>
          <a:lstStyle/>
          <a:p>
            <a:r>
              <a:rPr lang="en-US" sz="1100" b="1" i="0" u="none" strike="noStrike" baseline="0" dirty="0">
                <a:solidFill>
                  <a:srgbClr val="000000"/>
                </a:solidFill>
                <a:latin typeface="Aptos" panose="020B0004020202020204" pitchFamily="34" charset="0"/>
              </a:rPr>
              <a:t>HTTP Method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Endpoint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/users 	Retrieve a list of all users. 	</a:t>
            </a:r>
          </a:p>
          <a:p>
            <a:r>
              <a:rPr lang="en-US" sz="1100" b="1" i="0" u="none" strike="noStrike" baseline="0" dirty="0">
                <a:solidFill>
                  <a:srgbClr val="000000"/>
                </a:solidFill>
                <a:latin typeface="Aptos" panose="020B0004020202020204" pitchFamily="34" charset="0"/>
              </a:rPr>
              <a:t>POST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/users 	Create a new user. 	</a:t>
            </a:r>
          </a:p>
          <a:p>
            <a:r>
              <a:rPr lang="en-US" sz="1100" b="1" i="0" u="none" strike="noStrike" baseline="0" dirty="0">
                <a:solidFill>
                  <a:srgbClr val="000000"/>
                </a:solidFill>
                <a:latin typeface="Aptos" panose="020B0004020202020204" pitchFamily="34" charset="0"/>
              </a:rPr>
              <a:t>POST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/users/login 	Authenticate a user and log them in.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/users/{</a:t>
            </a:r>
            <a:r>
              <a:rPr lang="en-US" sz="1100" b="0" i="0" u="none" strike="noStrike" baseline="0" dirty="0" err="1">
                <a:solidFill>
                  <a:srgbClr val="000000"/>
                </a:solidFill>
                <a:latin typeface="Aptos" panose="020B0004020202020204" pitchFamily="34" charset="0"/>
              </a:rPr>
              <a:t>userId</a:t>
            </a:r>
            <a:r>
              <a:rPr lang="en-US" sz="1100" b="0" i="0" u="none" strike="noStrike" baseline="0" dirty="0">
                <a:solidFill>
                  <a:srgbClr val="000000"/>
                </a:solidFill>
                <a:latin typeface="Aptos" panose="020B0004020202020204" pitchFamily="34" charset="0"/>
              </a:rPr>
              <a:t>} 	Retrieve details of a specific user by user ID.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/users/{</a:t>
            </a:r>
            <a:r>
              <a:rPr lang="en-US" sz="1100" b="0" i="0" u="none" strike="noStrike" baseline="0" dirty="0" err="1">
                <a:solidFill>
                  <a:srgbClr val="000000"/>
                </a:solidFill>
                <a:latin typeface="Aptos" panose="020B0004020202020204" pitchFamily="34" charset="0"/>
              </a:rPr>
              <a:t>userId</a:t>
            </a:r>
            <a:r>
              <a:rPr lang="en-US" sz="1100" b="0" i="0" u="none" strike="noStrike" baseline="0" dirty="0">
                <a:solidFill>
                  <a:srgbClr val="000000"/>
                </a:solidFill>
                <a:latin typeface="Aptos" panose="020B0004020202020204" pitchFamily="34" charset="0"/>
              </a:rPr>
              <a:t>}/issues 	Retrieve issues assigned to a specific user by user ID. </a:t>
            </a:r>
            <a:r>
              <a:rPr lang="en-US" sz="1100" b="1" i="1" u="none" strike="noStrike" baseline="0" dirty="0">
                <a:solidFill>
                  <a:srgbClr val="000000"/>
                </a:solidFill>
                <a:latin typeface="Aptos" panose="020B0004020202020204" pitchFamily="34" charset="0"/>
              </a:rPr>
              <a:t>– Inter service communication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/users/username/{username}/issues 	Retrieve issues assigned to a specific user by username. </a:t>
            </a:r>
            <a:r>
              <a:rPr lang="en-US" sz="1100" b="1" i="1" u="none" strike="noStrike" baseline="0" dirty="0">
                <a:solidFill>
                  <a:srgbClr val="000000"/>
                </a:solidFill>
                <a:latin typeface="Aptos" panose="020B0004020202020204" pitchFamily="34" charset="0"/>
              </a:rPr>
              <a:t>– Inter service communication </a:t>
            </a:r>
            <a:r>
              <a:rPr lang="en-US" sz="1100" b="0" i="0" u="none" strike="noStrike" baseline="0" dirty="0">
                <a:solidFill>
                  <a:srgbClr val="000000"/>
                </a:solidFill>
                <a:latin typeface="Aptos" panose="020B0004020202020204" pitchFamily="34" charset="0"/>
              </a:rPr>
              <a:t>	</a:t>
            </a:r>
          </a:p>
        </p:txBody>
      </p:sp>
      <p:sp>
        <p:nvSpPr>
          <p:cNvPr id="9" name="TextBox 8">
            <a:extLst>
              <a:ext uri="{FF2B5EF4-FFF2-40B4-BE49-F238E27FC236}">
                <a16:creationId xmlns:a16="http://schemas.microsoft.com/office/drawing/2014/main" id="{EEBE17B8-717B-31BE-41B6-FAC2A430560E}"/>
              </a:ext>
            </a:extLst>
          </p:cNvPr>
          <p:cNvSpPr txBox="1"/>
          <p:nvPr/>
        </p:nvSpPr>
        <p:spPr>
          <a:xfrm>
            <a:off x="230886" y="2673382"/>
            <a:ext cx="6094476" cy="2462213"/>
          </a:xfrm>
          <a:prstGeom prst="rect">
            <a:avLst/>
          </a:prstGeom>
          <a:noFill/>
        </p:spPr>
        <p:txBody>
          <a:bodyPr wrap="square">
            <a:spAutoFit/>
          </a:bodyPr>
          <a:lstStyle/>
          <a:p>
            <a:r>
              <a:rPr lang="en-US" sz="1100" b="1" i="0" u="none" strike="noStrike" baseline="0" dirty="0">
                <a:solidFill>
                  <a:srgbClr val="000000"/>
                </a:solidFill>
                <a:latin typeface="Aptos" panose="020B0004020202020204" pitchFamily="34" charset="0"/>
              </a:rPr>
              <a:t>Project Service Endpoints HTTP Method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Endpoint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a:t>
            </a:r>
            <a:r>
              <a:rPr lang="en-US" sz="1100" b="0" i="0" u="none" strike="noStrike" baseline="0" dirty="0" err="1">
                <a:solidFill>
                  <a:srgbClr val="000000"/>
                </a:solidFill>
                <a:latin typeface="Aptos" panose="020B0004020202020204" pitchFamily="34" charset="0"/>
              </a:rPr>
              <a:t>projectId</a:t>
            </a:r>
            <a:r>
              <a:rPr lang="en-US" sz="1100" b="0" i="0" u="none" strike="noStrike" baseline="0" dirty="0">
                <a:solidFill>
                  <a:srgbClr val="000000"/>
                </a:solidFill>
                <a:latin typeface="Aptos" panose="020B0004020202020204" pitchFamily="34" charset="0"/>
              </a:rPr>
              <a:t>} 	Retrieve details of a specific project by project ID. 	</a:t>
            </a:r>
          </a:p>
          <a:p>
            <a:r>
              <a:rPr lang="en-US" sz="1100" b="1" i="0" u="none" strike="noStrike" baseline="0" dirty="0">
                <a:solidFill>
                  <a:srgbClr val="000000"/>
                </a:solidFill>
                <a:latin typeface="Aptos" panose="020B0004020202020204" pitchFamily="34" charset="0"/>
              </a:rPr>
              <a:t>PUT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a:t>
            </a:r>
            <a:r>
              <a:rPr lang="en-US" sz="1100" b="0" i="0" u="none" strike="noStrike" baseline="0" dirty="0" err="1">
                <a:solidFill>
                  <a:srgbClr val="000000"/>
                </a:solidFill>
                <a:latin typeface="Aptos" panose="020B0004020202020204" pitchFamily="34" charset="0"/>
              </a:rPr>
              <a:t>projectId</a:t>
            </a:r>
            <a:r>
              <a:rPr lang="en-US" sz="1100" b="0" i="0" u="none" strike="noStrike" baseline="0" dirty="0">
                <a:solidFill>
                  <a:srgbClr val="000000"/>
                </a:solidFill>
                <a:latin typeface="Aptos" panose="020B0004020202020204" pitchFamily="34" charset="0"/>
              </a:rPr>
              <a:t>} 	Update details of a specific project by project ID. 	</a:t>
            </a:r>
          </a:p>
          <a:p>
            <a:r>
              <a:rPr lang="en-US" sz="1100" b="1" i="0" u="none" strike="noStrike" baseline="0" dirty="0">
                <a:solidFill>
                  <a:srgbClr val="000000"/>
                </a:solidFill>
                <a:latin typeface="Aptos" panose="020B0004020202020204" pitchFamily="34" charset="0"/>
              </a:rPr>
              <a:t>DELETE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a:t>
            </a:r>
            <a:r>
              <a:rPr lang="en-US" sz="1100" b="0" i="0" u="none" strike="noStrike" baseline="0" dirty="0" err="1">
                <a:solidFill>
                  <a:srgbClr val="000000"/>
                </a:solidFill>
                <a:latin typeface="Aptos" panose="020B0004020202020204" pitchFamily="34" charset="0"/>
              </a:rPr>
              <a:t>projectId</a:t>
            </a:r>
            <a:r>
              <a:rPr lang="en-US" sz="1100" b="0" i="0" u="none" strike="noStrike" baseline="0" dirty="0">
                <a:solidFill>
                  <a:srgbClr val="000000"/>
                </a:solidFill>
                <a:latin typeface="Aptos" panose="020B0004020202020204" pitchFamily="34" charset="0"/>
              </a:rPr>
              <a:t>} 	Delete a specific project by project ID.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 	Retrieve a list of all projects. 	</a:t>
            </a:r>
          </a:p>
          <a:p>
            <a:r>
              <a:rPr lang="en-US" sz="1100" b="1" i="0" u="none" strike="noStrike" baseline="0" dirty="0">
                <a:solidFill>
                  <a:srgbClr val="000000"/>
                </a:solidFill>
                <a:latin typeface="Aptos" panose="020B0004020202020204" pitchFamily="34" charset="0"/>
              </a:rPr>
              <a:t>POST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 	Create a new project.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a:t>
            </a:r>
            <a:r>
              <a:rPr lang="en-US" sz="1100" b="0" i="0" u="none" strike="noStrike" baseline="0" dirty="0" err="1">
                <a:solidFill>
                  <a:srgbClr val="000000"/>
                </a:solidFill>
                <a:latin typeface="Aptos" panose="020B0004020202020204" pitchFamily="34" charset="0"/>
              </a:rPr>
              <a:t>projectId</a:t>
            </a:r>
            <a:r>
              <a:rPr lang="en-US" sz="1100" b="0" i="0" u="none" strike="noStrike" baseline="0" dirty="0">
                <a:solidFill>
                  <a:srgbClr val="000000"/>
                </a:solidFill>
                <a:latin typeface="Aptos" panose="020B0004020202020204" pitchFamily="34" charset="0"/>
              </a:rPr>
              <a:t>}/issues 	Retrieve issues within a specific project by project ID. </a:t>
            </a:r>
            <a:r>
              <a:rPr lang="en-US" sz="1100" b="1" i="1" u="none" strike="noStrike" baseline="0" dirty="0">
                <a:solidFill>
                  <a:srgbClr val="000000"/>
                </a:solidFill>
                <a:latin typeface="Aptos" panose="020B0004020202020204" pitchFamily="34" charset="0"/>
              </a:rPr>
              <a:t>– Inter service communication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a:t>
            </a:r>
            <a:r>
              <a:rPr lang="en-US" sz="1100" b="0" i="0" u="none" strike="noStrike" baseline="0" dirty="0" err="1">
                <a:solidFill>
                  <a:srgbClr val="000000"/>
                </a:solidFill>
                <a:latin typeface="Aptos" panose="020B0004020202020204" pitchFamily="34" charset="0"/>
              </a:rPr>
              <a:t>projectName</a:t>
            </a:r>
            <a:r>
              <a:rPr lang="en-US" sz="1100" b="0" i="0" u="none" strike="noStrike" baseline="0" dirty="0">
                <a:solidFill>
                  <a:srgbClr val="000000"/>
                </a:solidFill>
                <a:latin typeface="Aptos" panose="020B0004020202020204" pitchFamily="34" charset="0"/>
              </a:rPr>
              <a:t>/{</a:t>
            </a:r>
            <a:r>
              <a:rPr lang="en-US" sz="1100" b="0" i="0" u="none" strike="noStrike" baseline="0" dirty="0" err="1">
                <a:solidFill>
                  <a:srgbClr val="000000"/>
                </a:solidFill>
                <a:latin typeface="Aptos" panose="020B0004020202020204" pitchFamily="34" charset="0"/>
              </a:rPr>
              <a:t>projectName</a:t>
            </a:r>
            <a:r>
              <a:rPr lang="en-US" sz="1100" b="0" i="0" u="none" strike="noStrike" baseline="0" dirty="0">
                <a:solidFill>
                  <a:srgbClr val="000000"/>
                </a:solidFill>
                <a:latin typeface="Aptos" panose="020B0004020202020204" pitchFamily="34" charset="0"/>
              </a:rPr>
              <a:t>}/ issues 	Retrieve issues within a specific project by project name. </a:t>
            </a:r>
            <a:r>
              <a:rPr lang="en-US" sz="1100" b="1" i="1" u="none" strike="noStrike" baseline="0" dirty="0">
                <a:solidFill>
                  <a:srgbClr val="000000"/>
                </a:solidFill>
                <a:latin typeface="Aptos" panose="020B0004020202020204" pitchFamily="34" charset="0"/>
              </a:rPr>
              <a:t>– Inter service communication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/projects/owner/{</a:t>
            </a:r>
            <a:r>
              <a:rPr lang="en-US" sz="1100" b="0" i="0" u="none" strike="noStrike" baseline="0" dirty="0" err="1">
                <a:solidFill>
                  <a:srgbClr val="000000"/>
                </a:solidFill>
                <a:latin typeface="Aptos" panose="020B0004020202020204" pitchFamily="34" charset="0"/>
              </a:rPr>
              <a:t>ownerId</a:t>
            </a:r>
            <a:r>
              <a:rPr lang="en-US" sz="1100" b="0" i="0" u="none" strike="noStrike" baseline="0" dirty="0">
                <a:solidFill>
                  <a:srgbClr val="000000"/>
                </a:solidFill>
                <a:latin typeface="Aptos" panose="020B0004020202020204" pitchFamily="34" charset="0"/>
              </a:rPr>
              <a:t>} 	Retrieve projects owned by a specific user by owner ID. 	</a:t>
            </a:r>
          </a:p>
        </p:txBody>
      </p:sp>
    </p:spTree>
    <p:extLst>
      <p:ext uri="{BB962C8B-B14F-4D97-AF65-F5344CB8AC3E}">
        <p14:creationId xmlns:p14="http://schemas.microsoft.com/office/powerpoint/2010/main" val="2200803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DA00E56-D83A-5240-8FFD-A32B6B7B0167}"/>
              </a:ext>
            </a:extLst>
          </p:cNvPr>
          <p:cNvSpPr txBox="1"/>
          <p:nvPr/>
        </p:nvSpPr>
        <p:spPr>
          <a:xfrm>
            <a:off x="219456" y="137160"/>
            <a:ext cx="9507474" cy="1446550"/>
          </a:xfrm>
          <a:prstGeom prst="rect">
            <a:avLst/>
          </a:prstGeom>
          <a:noFill/>
        </p:spPr>
        <p:txBody>
          <a:bodyPr wrap="square">
            <a:spAutoFit/>
          </a:bodyPr>
          <a:lstStyle/>
          <a:p>
            <a:r>
              <a:rPr lang="en-US" sz="1100" b="1" i="0" u="none" strike="noStrike" baseline="0" dirty="0">
                <a:solidFill>
                  <a:srgbClr val="000000"/>
                </a:solidFill>
                <a:latin typeface="Aptos" panose="020B0004020202020204" pitchFamily="34" charset="0"/>
              </a:rPr>
              <a:t>Issue Service Endpoints HTTP Method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Endpoint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Description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/issues/{id} 	Retrieve details of a specific issue by issue ID. 	</a:t>
            </a:r>
          </a:p>
          <a:p>
            <a:r>
              <a:rPr lang="en-US" sz="1100" b="1" i="0" u="none" strike="noStrike" baseline="0" dirty="0">
                <a:solidFill>
                  <a:srgbClr val="000000"/>
                </a:solidFill>
                <a:latin typeface="Aptos" panose="020B0004020202020204" pitchFamily="34" charset="0"/>
              </a:rPr>
              <a:t>PUT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/issues/{id} 	Update details of a specific issue by issue ID.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/issues 	Retrieve a list of all issues. 	</a:t>
            </a:r>
          </a:p>
          <a:p>
            <a:r>
              <a:rPr lang="en-US" sz="1100" b="1" i="0" u="none" strike="noStrike" baseline="0" dirty="0">
                <a:solidFill>
                  <a:srgbClr val="000000"/>
                </a:solidFill>
                <a:latin typeface="Aptos" panose="020B0004020202020204" pitchFamily="34" charset="0"/>
              </a:rPr>
              <a:t>POST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/issues 	Create a new issue.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/issues/project/{</a:t>
            </a:r>
            <a:r>
              <a:rPr lang="en-US" sz="1100" b="0" i="0" u="none" strike="noStrike" baseline="0" dirty="0" err="1">
                <a:solidFill>
                  <a:srgbClr val="000000"/>
                </a:solidFill>
                <a:latin typeface="Aptos" panose="020B0004020202020204" pitchFamily="34" charset="0"/>
              </a:rPr>
              <a:t>projectId</a:t>
            </a:r>
            <a:r>
              <a:rPr lang="en-US" sz="1100" b="0" i="0" u="none" strike="noStrike" baseline="0" dirty="0">
                <a:solidFill>
                  <a:srgbClr val="000000"/>
                </a:solidFill>
                <a:latin typeface="Aptos" panose="020B0004020202020204" pitchFamily="34" charset="0"/>
              </a:rPr>
              <a:t>} 	Retrieve issues within a specific project by project </a:t>
            </a:r>
            <a:r>
              <a:rPr lang="en-US" sz="1100" b="1" i="1" u="none" strike="noStrike" baseline="0" dirty="0">
                <a:solidFill>
                  <a:srgbClr val="000000"/>
                </a:solidFill>
                <a:latin typeface="Aptos" panose="020B0004020202020204" pitchFamily="34" charset="0"/>
              </a:rPr>
              <a:t>– Inter service communication </a:t>
            </a:r>
            <a:r>
              <a:rPr lang="en-US" sz="1100" b="0" i="0" u="none" strike="noStrike" baseline="0" dirty="0">
                <a:solidFill>
                  <a:srgbClr val="000000"/>
                </a:solidFill>
                <a:latin typeface="Aptos" panose="020B0004020202020204" pitchFamily="34" charset="0"/>
              </a:rPr>
              <a:t>ID.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/issues/owner/{</a:t>
            </a:r>
            <a:r>
              <a:rPr lang="en-US" sz="1100" b="0" i="0" u="none" strike="noStrike" baseline="0" dirty="0" err="1">
                <a:solidFill>
                  <a:srgbClr val="000000"/>
                </a:solidFill>
                <a:latin typeface="Aptos" panose="020B0004020202020204" pitchFamily="34" charset="0"/>
              </a:rPr>
              <a:t>ownerId</a:t>
            </a:r>
            <a:r>
              <a:rPr lang="en-US" sz="1100" b="0" i="0" u="none" strike="noStrike" baseline="0" dirty="0">
                <a:solidFill>
                  <a:srgbClr val="000000"/>
                </a:solidFill>
                <a:latin typeface="Aptos" panose="020B0004020202020204" pitchFamily="34" charset="0"/>
              </a:rPr>
              <a:t>} 	Retrieve issues owned by a specific user by owner </a:t>
            </a:r>
            <a:r>
              <a:rPr lang="en-US" sz="1100" b="1" i="1" u="none" strike="noStrike" baseline="0" dirty="0">
                <a:solidFill>
                  <a:srgbClr val="000000"/>
                </a:solidFill>
                <a:latin typeface="Aptos" panose="020B0004020202020204" pitchFamily="34" charset="0"/>
              </a:rPr>
              <a:t>– Inter service communication </a:t>
            </a:r>
            <a:r>
              <a:rPr lang="en-US" sz="1100" b="0" i="0" u="none" strike="noStrike" baseline="0" dirty="0">
                <a:solidFill>
                  <a:srgbClr val="000000"/>
                </a:solidFill>
                <a:latin typeface="Aptos" panose="020B0004020202020204" pitchFamily="34" charset="0"/>
              </a:rPr>
              <a:t>ID. 	</a:t>
            </a:r>
          </a:p>
          <a:p>
            <a:r>
              <a:rPr lang="en-US" sz="1100" b="1" i="0" u="none" strike="noStrike" baseline="0" dirty="0">
                <a:solidFill>
                  <a:srgbClr val="000000"/>
                </a:solidFill>
                <a:latin typeface="Aptos" panose="020B0004020202020204" pitchFamily="34" charset="0"/>
              </a:rPr>
              <a:t>GET </a:t>
            </a:r>
            <a:r>
              <a:rPr lang="en-US" sz="1100" b="0" i="0" u="none" strike="noStrike" baseline="0" dirty="0">
                <a:solidFill>
                  <a:srgbClr val="000000"/>
                </a:solidFill>
                <a:latin typeface="Aptos" panose="020B0004020202020204" pitchFamily="34" charset="0"/>
              </a:rPr>
              <a:t>	/</a:t>
            </a:r>
            <a:r>
              <a:rPr lang="en-US" sz="1100" b="0" i="0" u="none" strike="noStrike" baseline="0" dirty="0" err="1">
                <a:solidFill>
                  <a:srgbClr val="000000"/>
                </a:solidFill>
                <a:latin typeface="Aptos" panose="020B0004020202020204" pitchFamily="34" charset="0"/>
              </a:rPr>
              <a:t>api</a:t>
            </a:r>
            <a:r>
              <a:rPr lang="en-US" sz="1100" b="0" i="0" u="none" strike="noStrike" baseline="0" dirty="0">
                <a:solidFill>
                  <a:srgbClr val="000000"/>
                </a:solidFill>
                <a:latin typeface="Aptos" panose="020B0004020202020204" pitchFamily="34" charset="0"/>
              </a:rPr>
              <a:t>/issues/assignee/{</a:t>
            </a:r>
            <a:r>
              <a:rPr lang="en-US" sz="1100" b="0" i="0" u="none" strike="noStrike" baseline="0" dirty="0" err="1">
                <a:solidFill>
                  <a:srgbClr val="000000"/>
                </a:solidFill>
                <a:latin typeface="Aptos" panose="020B0004020202020204" pitchFamily="34" charset="0"/>
              </a:rPr>
              <a:t>assigneeId</a:t>
            </a:r>
            <a:r>
              <a:rPr lang="en-US" sz="1100" b="0" i="0" u="none" strike="noStrike" baseline="0" dirty="0">
                <a:solidFill>
                  <a:srgbClr val="000000"/>
                </a:solidFill>
                <a:latin typeface="Aptos" panose="020B0004020202020204" pitchFamily="34" charset="0"/>
              </a:rPr>
              <a:t>} 	Retrieve issues assigned to a specific user by </a:t>
            </a:r>
            <a:r>
              <a:rPr lang="en-US" sz="1100" b="1" i="1" u="none" strike="noStrike" baseline="0" dirty="0">
                <a:solidFill>
                  <a:srgbClr val="000000"/>
                </a:solidFill>
                <a:latin typeface="Aptos" panose="020B0004020202020204" pitchFamily="34" charset="0"/>
              </a:rPr>
              <a:t>– Inter service communication </a:t>
            </a:r>
            <a:r>
              <a:rPr lang="en-US" sz="1100" b="0" i="0" u="none" strike="noStrike" baseline="0" dirty="0">
                <a:solidFill>
                  <a:srgbClr val="000000"/>
                </a:solidFill>
                <a:latin typeface="Aptos" panose="020B0004020202020204" pitchFamily="34" charset="0"/>
              </a:rPr>
              <a:t>assignee ID. 	</a:t>
            </a:r>
          </a:p>
        </p:txBody>
      </p:sp>
      <p:sp>
        <p:nvSpPr>
          <p:cNvPr id="7" name="TextBox 6">
            <a:extLst>
              <a:ext uri="{FF2B5EF4-FFF2-40B4-BE49-F238E27FC236}">
                <a16:creationId xmlns:a16="http://schemas.microsoft.com/office/drawing/2014/main" id="{89EAF1BB-8E5C-12BA-EDB2-EA5FFC1CBA34}"/>
              </a:ext>
            </a:extLst>
          </p:cNvPr>
          <p:cNvSpPr txBox="1"/>
          <p:nvPr/>
        </p:nvSpPr>
        <p:spPr>
          <a:xfrm>
            <a:off x="219456" y="1583710"/>
            <a:ext cx="6094476" cy="646331"/>
          </a:xfrm>
          <a:prstGeom prst="rect">
            <a:avLst/>
          </a:prstGeom>
          <a:noFill/>
        </p:spPr>
        <p:txBody>
          <a:bodyPr wrap="square">
            <a:spAutoFit/>
          </a:bodyPr>
          <a:lstStyle/>
          <a:p>
            <a:r>
              <a:rPr lang="en-US" sz="1400" b="1" i="0" u="none" strike="noStrike" baseline="0" dirty="0">
                <a:solidFill>
                  <a:srgbClr val="85BB24"/>
                </a:solidFill>
                <a:latin typeface="Aptos" panose="020B0004020202020204" pitchFamily="34" charset="0"/>
              </a:rPr>
              <a:t>Database Structure </a:t>
            </a:r>
            <a:endParaRPr lang="en-US" sz="1400" b="0" i="0" u="none" strike="noStrike" baseline="0" dirty="0">
              <a:solidFill>
                <a:srgbClr val="85BB24"/>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Each service will manage its own database schema, reflecting the principles of microservices architecture to ensure loose coupling and high cohesion. </a:t>
            </a:r>
            <a:endParaRPr lang="en-US" dirty="0"/>
          </a:p>
        </p:txBody>
      </p:sp>
      <p:pic>
        <p:nvPicPr>
          <p:cNvPr id="9" name="Picture 8">
            <a:extLst>
              <a:ext uri="{FF2B5EF4-FFF2-40B4-BE49-F238E27FC236}">
                <a16:creationId xmlns:a16="http://schemas.microsoft.com/office/drawing/2014/main" id="{2556F396-33F4-43ED-5D89-845A0F1FF60E}"/>
              </a:ext>
            </a:extLst>
          </p:cNvPr>
          <p:cNvPicPr>
            <a:picLocks noChangeAspect="1"/>
          </p:cNvPicPr>
          <p:nvPr/>
        </p:nvPicPr>
        <p:blipFill>
          <a:blip r:embed="rId2"/>
          <a:stretch>
            <a:fillRect/>
          </a:stretch>
        </p:blipFill>
        <p:spPr>
          <a:xfrm>
            <a:off x="594360" y="2254327"/>
            <a:ext cx="4584418" cy="3019963"/>
          </a:xfrm>
          <a:prstGeom prst="rect">
            <a:avLst/>
          </a:prstGeom>
        </p:spPr>
      </p:pic>
    </p:spTree>
    <p:extLst>
      <p:ext uri="{BB962C8B-B14F-4D97-AF65-F5344CB8AC3E}">
        <p14:creationId xmlns:p14="http://schemas.microsoft.com/office/powerpoint/2010/main" val="3342131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26C0714-EA92-3683-751B-A562BF944EE4}"/>
              </a:ext>
            </a:extLst>
          </p:cNvPr>
          <p:cNvSpPr txBox="1"/>
          <p:nvPr/>
        </p:nvSpPr>
        <p:spPr>
          <a:xfrm>
            <a:off x="221673" y="78786"/>
            <a:ext cx="6096000" cy="1661993"/>
          </a:xfrm>
          <a:prstGeom prst="rect">
            <a:avLst/>
          </a:prstGeom>
          <a:noFill/>
        </p:spPr>
        <p:txBody>
          <a:bodyPr wrap="square">
            <a:spAutoFit/>
          </a:bodyPr>
          <a:lstStyle/>
          <a:p>
            <a:r>
              <a:rPr lang="en-US" sz="1400" b="1" i="0" u="none" strike="noStrike" baseline="0" dirty="0">
                <a:solidFill>
                  <a:srgbClr val="85BB24"/>
                </a:solidFill>
                <a:latin typeface="Aptos" panose="020B0004020202020204" pitchFamily="34" charset="0"/>
              </a:rPr>
              <a:t>Implementation Strategy </a:t>
            </a:r>
            <a:endParaRPr lang="en-US" sz="1400" b="0" i="0" u="none" strike="noStrike" baseline="0" dirty="0">
              <a:solidFill>
                <a:srgbClr val="85BB24"/>
              </a:solidFill>
              <a:latin typeface="Aptos" panose="020B0004020202020204" pitchFamily="34" charset="0"/>
            </a:endParaRPr>
          </a:p>
          <a:p>
            <a:r>
              <a:rPr lang="en-US" sz="1100" b="1" i="0" u="none" strike="noStrike" baseline="0" dirty="0">
                <a:solidFill>
                  <a:srgbClr val="000000"/>
                </a:solidFill>
                <a:latin typeface="Aptos" panose="020B0004020202020204" pitchFamily="34" charset="0"/>
              </a:rPr>
              <a:t>Microservices Setup: </a:t>
            </a:r>
            <a:r>
              <a:rPr lang="en-US" sz="1100" b="0" i="0" u="none" strike="noStrike" baseline="0" dirty="0">
                <a:solidFill>
                  <a:srgbClr val="000000"/>
                </a:solidFill>
                <a:latin typeface="Aptos" panose="020B0004020202020204" pitchFamily="34" charset="0"/>
              </a:rPr>
              <a:t>Each microservice is set up as a separate Spring Boot application </a:t>
            </a:r>
          </a:p>
          <a:p>
            <a:r>
              <a:rPr lang="en-US" sz="1100" b="1" i="0" u="none" strike="noStrike" baseline="0" dirty="0">
                <a:solidFill>
                  <a:srgbClr val="000000"/>
                </a:solidFill>
                <a:latin typeface="Aptos" panose="020B0004020202020204" pitchFamily="34" charset="0"/>
              </a:rPr>
              <a:t>Service Discovery: </a:t>
            </a:r>
            <a:r>
              <a:rPr lang="en-US" sz="1100" b="0" i="0" u="none" strike="noStrike" baseline="0" dirty="0">
                <a:solidFill>
                  <a:srgbClr val="000000"/>
                </a:solidFill>
                <a:latin typeface="Aptos" panose="020B0004020202020204" pitchFamily="34" charset="0"/>
              </a:rPr>
              <a:t>Implement Eureka Server for dynamic service discovery </a:t>
            </a:r>
          </a:p>
          <a:p>
            <a:r>
              <a:rPr lang="en-US" sz="1100" b="1" i="0" u="none" strike="noStrike" baseline="0" dirty="0">
                <a:solidFill>
                  <a:srgbClr val="000000"/>
                </a:solidFill>
                <a:latin typeface="Aptos" panose="020B0004020202020204" pitchFamily="34" charset="0"/>
              </a:rPr>
              <a:t>API Gateway: </a:t>
            </a:r>
            <a:r>
              <a:rPr lang="en-US" sz="1100" b="0" i="0" u="none" strike="noStrike" baseline="0" dirty="0">
                <a:solidFill>
                  <a:srgbClr val="000000"/>
                </a:solidFill>
                <a:latin typeface="Aptos" panose="020B0004020202020204" pitchFamily="34" charset="0"/>
              </a:rPr>
              <a:t>A single-entry point for all clients. Routes requests appropriate microservices, handles failures, and provides some API aggregation </a:t>
            </a:r>
          </a:p>
          <a:p>
            <a:r>
              <a:rPr lang="en-US" sz="1100" b="1" i="0" u="none" strike="noStrike" baseline="0" dirty="0">
                <a:solidFill>
                  <a:srgbClr val="000000"/>
                </a:solidFill>
                <a:latin typeface="Aptos" panose="020B0004020202020204" pitchFamily="34" charset="0"/>
              </a:rPr>
              <a:t>Inter-service Communication: </a:t>
            </a:r>
            <a:r>
              <a:rPr lang="en-US" sz="1100" b="0" i="0" u="none" strike="noStrike" baseline="0" dirty="0">
                <a:solidFill>
                  <a:srgbClr val="000000"/>
                </a:solidFill>
                <a:latin typeface="Aptos" panose="020B0004020202020204" pitchFamily="34" charset="0"/>
              </a:rPr>
              <a:t>Services communicate using </a:t>
            </a:r>
            <a:r>
              <a:rPr lang="en-US" sz="1100" b="0" i="0" u="none" strike="noStrike" baseline="0" dirty="0" err="1">
                <a:solidFill>
                  <a:srgbClr val="000000"/>
                </a:solidFill>
                <a:latin typeface="Aptos" panose="020B0004020202020204" pitchFamily="34" charset="0"/>
              </a:rPr>
              <a:t>RestTemplate</a:t>
            </a:r>
            <a:r>
              <a:rPr lang="en-US" sz="1100" b="0" i="0" u="none" strike="noStrike" baseline="0" dirty="0">
                <a:solidFill>
                  <a:srgbClr val="000000"/>
                </a:solidFill>
                <a:latin typeface="Aptos" panose="020B0004020202020204" pitchFamily="34" charset="0"/>
              </a:rPr>
              <a:t> or Feign Client </a:t>
            </a:r>
          </a:p>
          <a:p>
            <a:r>
              <a:rPr lang="en-US" sz="1100" b="1" i="0" u="none" strike="noStrike" baseline="0" dirty="0">
                <a:solidFill>
                  <a:srgbClr val="000000"/>
                </a:solidFill>
                <a:latin typeface="Aptos" panose="020B0004020202020204" pitchFamily="34" charset="0"/>
              </a:rPr>
              <a:t>Database Configuration: </a:t>
            </a:r>
            <a:r>
              <a:rPr lang="en-US" sz="1100" b="0" i="0" u="none" strike="noStrike" baseline="0" dirty="0">
                <a:solidFill>
                  <a:srgbClr val="000000"/>
                </a:solidFill>
                <a:latin typeface="Aptos" panose="020B0004020202020204" pitchFamily="34" charset="0"/>
              </a:rPr>
              <a:t>Each service interacts with its own MySQL database instance </a:t>
            </a:r>
          </a:p>
          <a:p>
            <a:r>
              <a:rPr lang="en-US" sz="1100" b="1" i="0" u="none" strike="noStrike" baseline="0" dirty="0">
                <a:solidFill>
                  <a:srgbClr val="000000"/>
                </a:solidFill>
                <a:latin typeface="Aptos" panose="020B0004020202020204" pitchFamily="34" charset="0"/>
              </a:rPr>
              <a:t>Testing and Deployment: </a:t>
            </a:r>
            <a:r>
              <a:rPr lang="en-US" sz="1100" b="0" i="0" u="none" strike="noStrike" baseline="0" dirty="0">
                <a:solidFill>
                  <a:srgbClr val="000000"/>
                </a:solidFill>
                <a:latin typeface="Aptos" panose="020B0004020202020204" pitchFamily="34" charset="0"/>
              </a:rPr>
              <a:t>Each microservice is developed, tested, and deployed independently </a:t>
            </a:r>
          </a:p>
          <a:p>
            <a:r>
              <a:rPr lang="en-US" sz="1100" b="1" i="0" u="none" strike="noStrike" baseline="0" dirty="0">
                <a:solidFill>
                  <a:srgbClr val="000000"/>
                </a:solidFill>
                <a:latin typeface="Aptos" panose="020B0004020202020204" pitchFamily="34" charset="0"/>
              </a:rPr>
              <a:t>Swagger: </a:t>
            </a:r>
            <a:r>
              <a:rPr lang="en-US" sz="1100" b="0" i="0" u="none" strike="noStrike" baseline="0" dirty="0">
                <a:solidFill>
                  <a:srgbClr val="000000"/>
                </a:solidFill>
                <a:latin typeface="Aptos" panose="020B0004020202020204" pitchFamily="34" charset="0"/>
              </a:rPr>
              <a:t>Each of the above services should have swagger documentation of all APIs </a:t>
            </a:r>
          </a:p>
        </p:txBody>
      </p:sp>
      <p:sp>
        <p:nvSpPr>
          <p:cNvPr id="7" name="TextBox 6">
            <a:extLst>
              <a:ext uri="{FF2B5EF4-FFF2-40B4-BE49-F238E27FC236}">
                <a16:creationId xmlns:a16="http://schemas.microsoft.com/office/drawing/2014/main" id="{AF4FA7C7-A1EB-F198-FEC1-9D486F2D360B}"/>
              </a:ext>
            </a:extLst>
          </p:cNvPr>
          <p:cNvSpPr txBox="1"/>
          <p:nvPr/>
        </p:nvSpPr>
        <p:spPr>
          <a:xfrm>
            <a:off x="221673" y="2257684"/>
            <a:ext cx="11175999" cy="4431983"/>
          </a:xfrm>
          <a:prstGeom prst="rect">
            <a:avLst/>
          </a:prstGeom>
          <a:noFill/>
        </p:spPr>
        <p:txBody>
          <a:bodyPr wrap="square">
            <a:spAutoFit/>
          </a:bodyPr>
          <a:lstStyle/>
          <a:p>
            <a:r>
              <a:rPr lang="en-US" sz="1600" b="1" i="0" u="none" strike="noStrike" baseline="0" dirty="0">
                <a:solidFill>
                  <a:srgbClr val="000000"/>
                </a:solidFill>
                <a:latin typeface="Aptos" panose="020B0004020202020204" pitchFamily="34" charset="0"/>
              </a:rPr>
              <a:t>Non-Functional Requirements </a:t>
            </a:r>
            <a:endParaRPr lang="en-US" sz="1600" b="0" i="0" u="none" strike="noStrike" baseline="0" dirty="0">
              <a:solidFill>
                <a:srgbClr val="000000"/>
              </a:solidFill>
              <a:latin typeface="Aptos" panose="020B0004020202020204" pitchFamily="34" charset="0"/>
            </a:endParaRPr>
          </a:p>
          <a:p>
            <a:r>
              <a:rPr lang="en-US" sz="1600" b="0" i="0" u="none" strike="noStrike" baseline="0" dirty="0">
                <a:solidFill>
                  <a:srgbClr val="000000"/>
                </a:solidFill>
                <a:latin typeface="Aptos" panose="020B0004020202020204" pitchFamily="34" charset="0"/>
              </a:rPr>
              <a:t>The application should have low latency and high throughput. </a:t>
            </a:r>
          </a:p>
          <a:p>
            <a:r>
              <a:rPr lang="en-US" sz="1600" b="0" i="0" u="none" strike="noStrike" baseline="0" dirty="0">
                <a:solidFill>
                  <a:srgbClr val="000000"/>
                </a:solidFill>
                <a:latin typeface="Aptos" panose="020B0004020202020204" pitchFamily="34" charset="0"/>
              </a:rPr>
              <a:t>The application and data should be secured by Authentication. </a:t>
            </a:r>
          </a:p>
          <a:p>
            <a:r>
              <a:rPr lang="en-US" sz="1600" b="0" i="0" u="none" strike="noStrike" baseline="0" dirty="0">
                <a:solidFill>
                  <a:srgbClr val="000000"/>
                </a:solidFill>
                <a:latin typeface="Aptos" panose="020B0004020202020204" pitchFamily="34" charset="0"/>
              </a:rPr>
              <a:t>System should be scalable and maintainable. </a:t>
            </a:r>
          </a:p>
          <a:p>
            <a:endParaRPr lang="en-US" sz="1600" b="0" i="0" u="none" strike="noStrike" baseline="0" dirty="0">
              <a:solidFill>
                <a:srgbClr val="000000"/>
              </a:solidFill>
              <a:latin typeface="Aptos" panose="020B0004020202020204" pitchFamily="34" charset="0"/>
            </a:endParaRPr>
          </a:p>
          <a:p>
            <a:r>
              <a:rPr lang="en-US" sz="1600" b="1" i="0" u="none" strike="noStrike" baseline="0" dirty="0">
                <a:solidFill>
                  <a:srgbClr val="000000"/>
                </a:solidFill>
                <a:latin typeface="Aptos" panose="020B0004020202020204" pitchFamily="34" charset="0"/>
              </a:rPr>
              <a:t>Guidelines </a:t>
            </a:r>
            <a:endParaRPr lang="en-US" sz="1600" b="0" i="0" u="none" strike="noStrike" baseline="0" dirty="0">
              <a:solidFill>
                <a:srgbClr val="000000"/>
              </a:solidFill>
              <a:latin typeface="Aptos" panose="020B0004020202020204" pitchFamily="34" charset="0"/>
            </a:endParaRPr>
          </a:p>
          <a:p>
            <a:r>
              <a:rPr lang="en-US" sz="1600" b="0" i="0" u="none" strike="noStrike" baseline="0" dirty="0">
                <a:solidFill>
                  <a:srgbClr val="000000"/>
                </a:solidFill>
                <a:latin typeface="Aptos" panose="020B0004020202020204" pitchFamily="34" charset="0"/>
              </a:rPr>
              <a:t>Make use of best coding practices. </a:t>
            </a:r>
          </a:p>
          <a:p>
            <a:r>
              <a:rPr lang="en-US" sz="1100" b="0" i="0" u="none" strike="noStrike" baseline="0" dirty="0">
                <a:solidFill>
                  <a:srgbClr val="000000"/>
                </a:solidFill>
                <a:latin typeface="Aptos" panose="020B0004020202020204" pitchFamily="34" charset="0"/>
              </a:rPr>
              <a:t>Develop the application in such a way that it facilitates easy plugging of other related modules/functionalities like getting real-time updates and targeted notifications in case of status changes, in-issue commenting, etc. while scaling the application at a later point in time. </a:t>
            </a:r>
          </a:p>
          <a:p>
            <a:r>
              <a:rPr lang="en-US" sz="1100" b="0" i="0" u="none" strike="noStrike" baseline="0" dirty="0">
                <a:solidFill>
                  <a:srgbClr val="000000"/>
                </a:solidFill>
                <a:latin typeface="Aptos" panose="020B0004020202020204" pitchFamily="34" charset="0"/>
              </a:rPr>
              <a:t>You can make assumptions and incorporate additional features or functionalities. </a:t>
            </a:r>
          </a:p>
          <a:p>
            <a:r>
              <a:rPr lang="en-US" sz="1100" b="0" i="0" u="none" strike="noStrike" baseline="0" dirty="0">
                <a:solidFill>
                  <a:srgbClr val="000000"/>
                </a:solidFill>
                <a:latin typeface="Aptos" panose="020B0004020202020204" pitchFamily="34" charset="0"/>
              </a:rPr>
              <a:t>A simple but working prototype is preferred over a non-working but good-looking application. </a:t>
            </a:r>
          </a:p>
          <a:p>
            <a:r>
              <a:rPr lang="en-US" sz="1100" b="0" i="0" u="none" strike="noStrike" baseline="0" dirty="0">
                <a:solidFill>
                  <a:srgbClr val="000000"/>
                </a:solidFill>
                <a:latin typeface="Aptos" panose="020B0004020202020204" pitchFamily="34" charset="0"/>
              </a:rPr>
              <a:t>The screenshots provided in this document are intended to help you understand and can be used as a reference to build the application. </a:t>
            </a:r>
          </a:p>
          <a:p>
            <a:r>
              <a:rPr lang="fr-FR" sz="1100" b="0" i="0" u="none" strike="noStrike" baseline="0" dirty="0">
                <a:solidFill>
                  <a:srgbClr val="000000"/>
                </a:solidFill>
                <a:latin typeface="Aptos" panose="020B0004020202020204" pitchFamily="34" charset="0"/>
              </a:rPr>
              <a:t>Add relevant </a:t>
            </a:r>
            <a:r>
              <a:rPr lang="fr-FR" sz="1100" b="0" i="0" u="none" strike="noStrike" baseline="0" dirty="0" err="1">
                <a:solidFill>
                  <a:srgbClr val="000000"/>
                </a:solidFill>
                <a:latin typeface="Aptos" panose="020B0004020202020204" pitchFamily="34" charset="0"/>
              </a:rPr>
              <a:t>comments</a:t>
            </a:r>
            <a:r>
              <a:rPr lang="fr-FR" sz="1100" b="0" i="0" u="none" strike="noStrike" baseline="0" dirty="0">
                <a:solidFill>
                  <a:srgbClr val="000000"/>
                </a:solidFill>
                <a:latin typeface="Aptos" panose="020B0004020202020204" pitchFamily="34" charset="0"/>
              </a:rPr>
              <a:t> for </a:t>
            </a:r>
            <a:r>
              <a:rPr lang="fr-FR" sz="1100" b="0" i="0" u="none" strike="noStrike" baseline="0" dirty="0" err="1">
                <a:solidFill>
                  <a:srgbClr val="000000"/>
                </a:solidFill>
                <a:latin typeface="Aptos" panose="020B0004020202020204" pitchFamily="34" charset="0"/>
              </a:rPr>
              <a:t>proper</a:t>
            </a:r>
            <a:r>
              <a:rPr lang="fr-FR" sz="1100" b="0" i="0" u="none" strike="noStrike" baseline="0" dirty="0">
                <a:solidFill>
                  <a:srgbClr val="000000"/>
                </a:solidFill>
                <a:latin typeface="Aptos" panose="020B0004020202020204" pitchFamily="34" charset="0"/>
              </a:rPr>
              <a:t> documentation. </a:t>
            </a:r>
          </a:p>
          <a:p>
            <a:r>
              <a:rPr lang="en-US" sz="1100" b="0" i="0" u="none" strike="noStrike" baseline="0" dirty="0">
                <a:solidFill>
                  <a:srgbClr val="000000"/>
                </a:solidFill>
                <a:latin typeface="Aptos" panose="020B0004020202020204" pitchFamily="34" charset="0"/>
              </a:rPr>
              <a:t>There would be a heavy focus on code quality and robustness of code in general. </a:t>
            </a:r>
          </a:p>
          <a:p>
            <a:r>
              <a:rPr lang="en-US" sz="1100" b="0" i="0" u="none" strike="noStrike" baseline="0" dirty="0">
                <a:solidFill>
                  <a:srgbClr val="000000"/>
                </a:solidFill>
                <a:latin typeface="Aptos" panose="020B0004020202020204" pitchFamily="34" charset="0"/>
              </a:rPr>
              <a:t>Use Git to maintain the project repository, manage pull requests, and resolve conflicts. </a:t>
            </a:r>
          </a:p>
          <a:p>
            <a:endParaRPr lang="en-US" sz="1100" b="0" i="0" u="none" strike="noStrike" baseline="0" dirty="0">
              <a:solidFill>
                <a:srgbClr val="000000"/>
              </a:solidFill>
              <a:latin typeface="Aptos" panose="020B0004020202020204" pitchFamily="34" charset="0"/>
            </a:endParaRPr>
          </a:p>
          <a:p>
            <a:r>
              <a:rPr lang="en-US" sz="1600" b="1" i="0" u="none" strike="noStrike" baseline="0" dirty="0">
                <a:solidFill>
                  <a:srgbClr val="000000"/>
                </a:solidFill>
                <a:latin typeface="Aptos" panose="020B0004020202020204" pitchFamily="34" charset="0"/>
              </a:rPr>
              <a:t>Best Practices </a:t>
            </a:r>
            <a:r>
              <a:rPr lang="en-US" sz="1100" b="1" i="0" u="none" strike="noStrike" baseline="0" dirty="0">
                <a:solidFill>
                  <a:srgbClr val="000000"/>
                </a:solidFill>
                <a:latin typeface="Aptos" panose="020B0004020202020204" pitchFamily="34" charset="0"/>
              </a:rPr>
              <a:t>Clear and Consistent Resource Naming </a:t>
            </a:r>
            <a:r>
              <a:rPr lang="en-US" sz="1100" b="0" i="0" u="none" strike="noStrike" baseline="0" dirty="0">
                <a:solidFill>
                  <a:srgbClr val="000000"/>
                </a:solidFill>
                <a:latin typeface="Aptos" panose="020B0004020202020204" pitchFamily="34" charset="0"/>
              </a:rPr>
              <a:t>	Use nouns that accurately reflect the resources your API manages (e.g., /products, /users) 	</a:t>
            </a:r>
          </a:p>
          <a:p>
            <a:r>
              <a:rPr lang="en-US" sz="1100" b="1" i="0" u="none" strike="noStrike" baseline="0" dirty="0">
                <a:solidFill>
                  <a:srgbClr val="000000"/>
                </a:solidFill>
                <a:latin typeface="Aptos" panose="020B0004020202020204" pitchFamily="34" charset="0"/>
              </a:rPr>
              <a:t>Follow RESTful Principles </a:t>
            </a:r>
            <a:r>
              <a:rPr lang="en-US" sz="1100" b="0" i="0" u="none" strike="noStrike" baseline="0" dirty="0">
                <a:solidFill>
                  <a:srgbClr val="000000"/>
                </a:solidFill>
                <a:latin typeface="Aptos" panose="020B0004020202020204" pitchFamily="34" charset="0"/>
              </a:rPr>
              <a:t>	Design APIs around resources, using HTTP methods explicitly (GET for fetching, POST for creating, PUT/PATCH for updating, DELETE for removing) 	</a:t>
            </a:r>
          </a:p>
          <a:p>
            <a:r>
              <a:rPr lang="en-US" sz="1100" b="1" i="0" u="none" strike="noStrike" baseline="0" dirty="0">
                <a:solidFill>
                  <a:srgbClr val="000000"/>
                </a:solidFill>
                <a:latin typeface="Aptos" panose="020B0004020202020204" pitchFamily="34" charset="0"/>
              </a:rPr>
              <a:t>HTTP Status Code </a:t>
            </a:r>
            <a:r>
              <a:rPr lang="en-US" sz="1100" b="0" i="0" u="none" strike="noStrike" baseline="0" dirty="0">
                <a:solidFill>
                  <a:srgbClr val="000000"/>
                </a:solidFill>
                <a:latin typeface="Aptos" panose="020B0004020202020204" pitchFamily="34" charset="0"/>
              </a:rPr>
              <a:t>	Use appropriate status codes to indicate API responses clearly 	</a:t>
            </a:r>
          </a:p>
          <a:p>
            <a:r>
              <a:rPr lang="en-US" sz="1100" b="1" i="0" u="none" strike="noStrike" baseline="0" dirty="0">
                <a:solidFill>
                  <a:srgbClr val="000000"/>
                </a:solidFill>
                <a:latin typeface="Aptos" panose="020B0004020202020204" pitchFamily="34" charset="0"/>
              </a:rPr>
              <a:t>Embrace Dependency Injection (DI) </a:t>
            </a:r>
            <a:r>
              <a:rPr lang="en-US" sz="1100" b="0" i="0" u="none" strike="noStrike" baseline="0" dirty="0">
                <a:solidFill>
                  <a:srgbClr val="000000"/>
                </a:solidFill>
                <a:latin typeface="Aptos" panose="020B0004020202020204" pitchFamily="34" charset="0"/>
              </a:rPr>
              <a:t>	Use @Autowired to inject dependencies (services, repositories) into controllers. Promote loose coupling and testability 	</a:t>
            </a:r>
          </a:p>
          <a:p>
            <a:r>
              <a:rPr lang="en-US" sz="1100" b="1" i="0" u="none" strike="noStrike" baseline="0" dirty="0">
                <a:solidFill>
                  <a:srgbClr val="000000"/>
                </a:solidFill>
                <a:latin typeface="Aptos" panose="020B0004020202020204" pitchFamily="34" charset="0"/>
              </a:rPr>
              <a:t>Exception Handling </a:t>
            </a:r>
            <a:r>
              <a:rPr lang="en-US" sz="1100" b="0" i="0" u="none" strike="noStrike" baseline="0" dirty="0">
                <a:solidFill>
                  <a:srgbClr val="000000"/>
                </a:solidFill>
                <a:latin typeface="Aptos" panose="020B0004020202020204" pitchFamily="34" charset="0"/>
              </a:rPr>
              <a:t>	Use @ControllerAdvice or @RestControllerAdvice to handle exceptions globally. Provide meaningful error responses that include status codes, error messages, and, if necessary, additional details 	</a:t>
            </a:r>
          </a:p>
        </p:txBody>
      </p:sp>
    </p:spTree>
    <p:extLst>
      <p:ext uri="{BB962C8B-B14F-4D97-AF65-F5344CB8AC3E}">
        <p14:creationId xmlns:p14="http://schemas.microsoft.com/office/powerpoint/2010/main" val="2130527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1E3158-B967-70BF-B9A6-E984909E784A}"/>
              </a:ext>
            </a:extLst>
          </p:cNvPr>
          <p:cNvSpPr txBox="1"/>
          <p:nvPr/>
        </p:nvSpPr>
        <p:spPr>
          <a:xfrm>
            <a:off x="452581" y="212436"/>
            <a:ext cx="11619345" cy="2708434"/>
          </a:xfrm>
          <a:prstGeom prst="rect">
            <a:avLst/>
          </a:prstGeom>
          <a:noFill/>
        </p:spPr>
        <p:txBody>
          <a:bodyPr wrap="square">
            <a:spAutoFit/>
          </a:bodyPr>
          <a:lstStyle/>
          <a:p>
            <a:r>
              <a:rPr lang="en-US" sz="1600" b="1" i="0" u="none" strike="noStrike" baseline="0" dirty="0">
                <a:solidFill>
                  <a:srgbClr val="000000"/>
                </a:solidFill>
                <a:latin typeface="Aptos" panose="020B0004020202020204" pitchFamily="34" charset="0"/>
              </a:rPr>
              <a:t>Milestones and Evaluation Criteria </a:t>
            </a:r>
            <a:r>
              <a:rPr lang="en-US" sz="1100" b="1" i="0" u="none" strike="noStrike" baseline="0" dirty="0">
                <a:solidFill>
                  <a:srgbClr val="000000"/>
                </a:solidFill>
                <a:latin typeface="Aptos" panose="020B0004020202020204" pitchFamily="34" charset="0"/>
              </a:rPr>
              <a:t>S. No.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Details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Milestone 1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User Microservice: </a:t>
            </a:r>
            <a:r>
              <a:rPr lang="en-US" sz="1100" b="0" i="0" u="none" strike="noStrike" baseline="0" dirty="0">
                <a:solidFill>
                  <a:srgbClr val="000000"/>
                </a:solidFill>
                <a:latin typeface="Aptos" panose="020B0004020202020204" pitchFamily="34" charset="0"/>
              </a:rPr>
              <a:t>Create User Microservice along with Service specific endpoints, </a:t>
            </a:r>
            <a:r>
              <a:rPr lang="en-US" sz="1100" b="1" i="1" u="none" strike="noStrike" baseline="0" dirty="0">
                <a:solidFill>
                  <a:srgbClr val="000000"/>
                </a:solidFill>
                <a:latin typeface="Aptos" panose="020B0004020202020204" pitchFamily="34" charset="0"/>
              </a:rPr>
              <a:t>as in section 7.1</a:t>
            </a:r>
            <a:r>
              <a:rPr lang="en-US" sz="1100" b="0" i="0" u="none" strike="noStrike" baseline="0" dirty="0">
                <a:solidFill>
                  <a:srgbClr val="000000"/>
                </a:solidFill>
                <a:latin typeface="Aptos" panose="020B0004020202020204" pitchFamily="34" charset="0"/>
              </a:rPr>
              <a:t>, and test using postman 	</a:t>
            </a:r>
          </a:p>
          <a:p>
            <a:r>
              <a:rPr lang="en-US" sz="1100" b="1" i="0" u="none" strike="noStrike" baseline="0" dirty="0">
                <a:solidFill>
                  <a:srgbClr val="000000"/>
                </a:solidFill>
                <a:latin typeface="Aptos" panose="020B0004020202020204" pitchFamily="34" charset="0"/>
              </a:rPr>
              <a:t>Milestone 2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Project Microservice: </a:t>
            </a:r>
            <a:r>
              <a:rPr lang="en-US" sz="1100" b="0" i="0" u="none" strike="noStrike" baseline="0" dirty="0">
                <a:solidFill>
                  <a:srgbClr val="000000"/>
                </a:solidFill>
                <a:latin typeface="Aptos" panose="020B0004020202020204" pitchFamily="34" charset="0"/>
              </a:rPr>
              <a:t>Create Project Microservice along with Service specific endpoints, </a:t>
            </a:r>
            <a:r>
              <a:rPr lang="en-US" sz="1100" b="1" i="1" u="none" strike="noStrike" baseline="0" dirty="0">
                <a:solidFill>
                  <a:srgbClr val="000000"/>
                </a:solidFill>
                <a:latin typeface="Aptos" panose="020B0004020202020204" pitchFamily="34" charset="0"/>
              </a:rPr>
              <a:t>as in section 7.2</a:t>
            </a:r>
            <a:r>
              <a:rPr lang="en-US" sz="1100" b="0" i="0" u="none" strike="noStrike" baseline="0" dirty="0">
                <a:solidFill>
                  <a:srgbClr val="000000"/>
                </a:solidFill>
                <a:latin typeface="Aptos" panose="020B0004020202020204" pitchFamily="34" charset="0"/>
              </a:rPr>
              <a:t>, and test using postman 	</a:t>
            </a:r>
          </a:p>
          <a:p>
            <a:r>
              <a:rPr lang="en-US" sz="1100" b="1" i="0" u="none" strike="noStrike" baseline="0" dirty="0">
                <a:solidFill>
                  <a:srgbClr val="000000"/>
                </a:solidFill>
                <a:latin typeface="Aptos" panose="020B0004020202020204" pitchFamily="34" charset="0"/>
              </a:rPr>
              <a:t>Milestone 3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Issue Microservice</a:t>
            </a:r>
            <a:r>
              <a:rPr lang="en-US" sz="1100" b="0" i="0" u="none" strike="noStrike" baseline="0" dirty="0">
                <a:solidFill>
                  <a:srgbClr val="000000"/>
                </a:solidFill>
                <a:latin typeface="Aptos" panose="020B0004020202020204" pitchFamily="34" charset="0"/>
              </a:rPr>
              <a:t>: Create Issue Microservice along with Service specific endpoints, </a:t>
            </a:r>
            <a:r>
              <a:rPr lang="en-US" sz="1100" b="1" i="1" u="none" strike="noStrike" baseline="0" dirty="0">
                <a:solidFill>
                  <a:srgbClr val="000000"/>
                </a:solidFill>
                <a:latin typeface="Aptos" panose="020B0004020202020204" pitchFamily="34" charset="0"/>
              </a:rPr>
              <a:t>as in section 7.3, </a:t>
            </a:r>
            <a:r>
              <a:rPr lang="en-US" sz="1100" b="0" i="0" u="none" strike="noStrike" baseline="0" dirty="0">
                <a:solidFill>
                  <a:srgbClr val="000000"/>
                </a:solidFill>
                <a:latin typeface="Aptos" panose="020B0004020202020204" pitchFamily="34" charset="0"/>
              </a:rPr>
              <a:t>and test using postman 	</a:t>
            </a:r>
          </a:p>
          <a:p>
            <a:r>
              <a:rPr lang="en-US" sz="1100" b="1" i="0" u="none" strike="noStrike" baseline="0" dirty="0">
                <a:solidFill>
                  <a:srgbClr val="000000"/>
                </a:solidFill>
                <a:latin typeface="Aptos" panose="020B0004020202020204" pitchFamily="34" charset="0"/>
              </a:rPr>
              <a:t>Milestone 4 </a:t>
            </a:r>
            <a:r>
              <a:rPr lang="en-US" sz="1100" b="0" i="0" u="none" strike="noStrike" baseline="0" dirty="0">
                <a:solidFill>
                  <a:srgbClr val="000000"/>
                </a:solidFill>
                <a:latin typeface="Aptos" panose="020B0004020202020204" pitchFamily="34" charset="0"/>
              </a:rPr>
              <a:t>	</a:t>
            </a:r>
            <a:r>
              <a:rPr lang="en-US" sz="1100" b="1" i="0" u="none" strike="noStrike" baseline="0" dirty="0">
                <a:solidFill>
                  <a:srgbClr val="000000"/>
                </a:solidFill>
                <a:latin typeface="Aptos" panose="020B0004020202020204" pitchFamily="34" charset="0"/>
              </a:rPr>
              <a:t>Microservices Configuration: </a:t>
            </a:r>
            <a:endParaRPr lang="en-US" sz="1100" b="0" i="0" u="none" strike="noStrike" baseline="0" dirty="0">
              <a:solidFill>
                <a:srgbClr val="000000"/>
              </a:solidFill>
              <a:latin typeface="Aptos" panose="020B0004020202020204" pitchFamily="34" charset="0"/>
            </a:endParaRPr>
          </a:p>
          <a:p>
            <a:r>
              <a:rPr lang="en-US" sz="1100" b="0" i="0" u="none" strike="noStrike" baseline="0" dirty="0">
                <a:solidFill>
                  <a:srgbClr val="000000"/>
                </a:solidFill>
                <a:latin typeface="Aptos" panose="020B0004020202020204" pitchFamily="34" charset="0"/>
              </a:rPr>
              <a:t>Implement Eureka Server for dynamic service discovery </a:t>
            </a:r>
          </a:p>
          <a:p>
            <a:r>
              <a:rPr lang="en-US" sz="1100" b="0" i="0" u="none" strike="noStrike" baseline="0" dirty="0">
                <a:solidFill>
                  <a:srgbClr val="000000"/>
                </a:solidFill>
                <a:latin typeface="Aptos" panose="020B0004020202020204" pitchFamily="34" charset="0"/>
              </a:rPr>
              <a:t>Register all microservices on Eureka Service dashboard </a:t>
            </a:r>
          </a:p>
          <a:p>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Milestone 5 </a:t>
            </a:r>
            <a:r>
              <a:rPr lang="en-US" sz="1100" b="0" i="0" u="none" strike="noStrike" baseline="0" dirty="0">
                <a:solidFill>
                  <a:srgbClr val="000000"/>
                </a:solidFill>
                <a:latin typeface="Aptos" panose="020B0004020202020204" pitchFamily="34" charset="0"/>
              </a:rPr>
              <a:t>	Implement all Interservice Communication endpoints </a:t>
            </a:r>
          </a:p>
          <a:p>
            <a:r>
              <a:rPr lang="en-US" sz="1100" b="1" i="1" u="none" strike="noStrike" baseline="0" dirty="0">
                <a:solidFill>
                  <a:srgbClr val="000000"/>
                </a:solidFill>
                <a:latin typeface="Aptos" panose="020B0004020202020204" pitchFamily="34" charset="0"/>
              </a:rPr>
              <a:t>Note: </a:t>
            </a:r>
            <a:r>
              <a:rPr lang="en-US" sz="1100" b="0" i="1" u="none" strike="noStrike" baseline="0" dirty="0">
                <a:solidFill>
                  <a:srgbClr val="000000"/>
                </a:solidFill>
                <a:latin typeface="Aptos" panose="020B0004020202020204" pitchFamily="34" charset="0"/>
              </a:rPr>
              <a:t>Refer section 7.1 to 7.4 (specified as Inter service Communication) </a:t>
            </a:r>
            <a:r>
              <a:rPr lang="en-US" sz="1100" b="0" i="0" u="none" strike="noStrike" baseline="0" dirty="0">
                <a:solidFill>
                  <a:srgbClr val="000000"/>
                </a:solidFill>
                <a:latin typeface="Aptos" panose="020B0004020202020204" pitchFamily="34" charset="0"/>
              </a:rPr>
              <a:t>	</a:t>
            </a:r>
          </a:p>
          <a:p>
            <a:r>
              <a:rPr lang="en-US" sz="1100" b="1" i="0" u="none" strike="noStrike" baseline="0" dirty="0">
                <a:solidFill>
                  <a:srgbClr val="000000"/>
                </a:solidFill>
                <a:latin typeface="Aptos" panose="020B0004020202020204" pitchFamily="34" charset="0"/>
              </a:rPr>
              <a:t>Milestone 6 </a:t>
            </a:r>
            <a:r>
              <a:rPr lang="en-US" sz="1100" b="0" i="0" u="none" strike="noStrike" baseline="0" dirty="0">
                <a:solidFill>
                  <a:srgbClr val="000000"/>
                </a:solidFill>
                <a:latin typeface="Aptos" panose="020B0004020202020204" pitchFamily="34" charset="0"/>
              </a:rPr>
              <a:t>	Make use of </a:t>
            </a:r>
            <a:r>
              <a:rPr lang="en-US" sz="1100" b="0" i="0" u="none" strike="noStrike" baseline="0" dirty="0" err="1">
                <a:solidFill>
                  <a:srgbClr val="000000"/>
                </a:solidFill>
                <a:latin typeface="Aptos" panose="020B0004020202020204" pitchFamily="34" charset="0"/>
              </a:rPr>
              <a:t>ResponseEntity</a:t>
            </a:r>
            <a:r>
              <a:rPr lang="en-US" sz="1100" b="0" i="0" u="none" strike="noStrike" baseline="0" dirty="0">
                <a:solidFill>
                  <a:srgbClr val="000000"/>
                </a:solidFill>
                <a:latin typeface="Aptos" panose="020B0004020202020204" pitchFamily="34" charset="0"/>
              </a:rPr>
              <a:t> in all above microservices to effectively manage HTTP status codes and provide descriptive status messages. Must implement Swagger to enable API documentation and visualization 	</a:t>
            </a:r>
          </a:p>
          <a:p>
            <a:r>
              <a:rPr lang="en-US" sz="1100" b="1" i="0" u="none" strike="noStrike" baseline="0" dirty="0">
                <a:solidFill>
                  <a:srgbClr val="000000"/>
                </a:solidFill>
                <a:latin typeface="Aptos" panose="020B0004020202020204" pitchFamily="34" charset="0"/>
              </a:rPr>
              <a:t>Milestone 7 </a:t>
            </a:r>
            <a:r>
              <a:rPr lang="en-US" sz="1100" b="0" i="0" u="none" strike="noStrike" baseline="0" dirty="0">
                <a:solidFill>
                  <a:srgbClr val="000000"/>
                </a:solidFill>
                <a:latin typeface="Aptos" panose="020B0004020202020204" pitchFamily="34" charset="0"/>
              </a:rPr>
              <a:t>	Implement API gateway to enable client-side load-balancing &amp; accessing all Microservice endpoints through the API Gateway 	</a:t>
            </a:r>
          </a:p>
          <a:p>
            <a:r>
              <a:rPr lang="en-US" sz="1100" b="1" i="0" u="none" strike="noStrike" baseline="0" dirty="0">
                <a:solidFill>
                  <a:srgbClr val="000000"/>
                </a:solidFill>
                <a:latin typeface="Aptos" panose="020B0004020202020204" pitchFamily="34" charset="0"/>
              </a:rPr>
              <a:t>Milestone 8 </a:t>
            </a:r>
            <a:r>
              <a:rPr lang="en-US" sz="1100" b="0" i="0" u="none" strike="noStrike" baseline="0" dirty="0">
                <a:solidFill>
                  <a:srgbClr val="000000"/>
                </a:solidFill>
                <a:latin typeface="Aptos" panose="020B0004020202020204" pitchFamily="34" charset="0"/>
              </a:rPr>
              <a:t>	Push the build to your </a:t>
            </a:r>
            <a:r>
              <a:rPr lang="en-US" sz="1100" b="0" i="0" u="none" strike="noStrike" baseline="0" dirty="0" err="1">
                <a:solidFill>
                  <a:srgbClr val="000000"/>
                </a:solidFill>
                <a:latin typeface="Aptos" panose="020B0004020202020204" pitchFamily="34" charset="0"/>
              </a:rPr>
              <a:t>Github</a:t>
            </a:r>
            <a:r>
              <a:rPr lang="en-US" sz="1100" b="0" i="0" u="none" strike="noStrike" baseline="0" dirty="0">
                <a:solidFill>
                  <a:srgbClr val="000000"/>
                </a:solidFill>
                <a:latin typeface="Aptos" panose="020B0004020202020204" pitchFamily="34" charset="0"/>
              </a:rPr>
              <a:t> repository 	</a:t>
            </a:r>
          </a:p>
          <a:p>
            <a:r>
              <a:rPr lang="en-US" sz="1100" b="1" i="0" u="none" strike="noStrike" baseline="0" dirty="0">
                <a:solidFill>
                  <a:srgbClr val="000000"/>
                </a:solidFill>
                <a:latin typeface="Aptos" panose="020B0004020202020204" pitchFamily="34" charset="0"/>
              </a:rPr>
              <a:t>Technical Interview </a:t>
            </a:r>
            <a:r>
              <a:rPr lang="en-US" sz="1100" b="0" i="0" u="none" strike="noStrike" baseline="0" dirty="0">
                <a:solidFill>
                  <a:srgbClr val="000000"/>
                </a:solidFill>
                <a:latin typeface="Aptos" panose="020B0004020202020204" pitchFamily="34" charset="0"/>
              </a:rPr>
              <a:t>	Discussion of Assumptions, Functionalities, and Validations 	</a:t>
            </a:r>
          </a:p>
        </p:txBody>
      </p:sp>
    </p:spTree>
    <p:extLst>
      <p:ext uri="{BB962C8B-B14F-4D97-AF65-F5344CB8AC3E}">
        <p14:creationId xmlns:p14="http://schemas.microsoft.com/office/powerpoint/2010/main" val="36152204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6</TotalTime>
  <Words>2085</Words>
  <Application>Microsoft Office PowerPoint</Application>
  <PresentationFormat>Widescreen</PresentationFormat>
  <Paragraphs>182</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Hiremath, Veeresh</dc:creator>
  <cp:lastModifiedBy>Hiremath, Veeresh</cp:lastModifiedBy>
  <cp:revision>1</cp:revision>
  <dcterms:created xsi:type="dcterms:W3CDTF">2026-09-30T16:40:27Z</dcterms:created>
  <dcterms:modified xsi:type="dcterms:W3CDTF">2026-09-30T16:46:38Z</dcterms:modified>
</cp:coreProperties>
</file>